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ro-RO"/>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ro-RO"/>
          </a:p>
        </p:txBody>
      </p:sp>
      <p:sp>
        <p:nvSpPr>
          <p:cNvPr id="4" name="Date Placeholder 3"/>
          <p:cNvSpPr>
            <a:spLocks noGrp="1"/>
          </p:cNvSpPr>
          <p:nvPr>
            <p:ph type="dt" sz="half" idx="10"/>
          </p:nvPr>
        </p:nvSpPr>
        <p:spPr/>
        <p:txBody>
          <a:bodyPr/>
          <a:lstStyle/>
          <a:p>
            <a:fld id="{03F296CE-6DCC-4492-AEED-02DF4D705D6D}" type="datetimeFigureOut">
              <a:rPr lang="ro-RO" smtClean="0"/>
              <a:t>18.12.2015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2466026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o-R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Date Placeholder 3"/>
          <p:cNvSpPr>
            <a:spLocks noGrp="1"/>
          </p:cNvSpPr>
          <p:nvPr>
            <p:ph type="dt" sz="half" idx="10"/>
          </p:nvPr>
        </p:nvSpPr>
        <p:spPr/>
        <p:txBody>
          <a:bodyPr/>
          <a:lstStyle/>
          <a:p>
            <a:fld id="{03F296CE-6DCC-4492-AEED-02DF4D705D6D}" type="datetimeFigureOut">
              <a:rPr lang="ro-RO" smtClean="0"/>
              <a:t>18.12.2015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430662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ro-R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3F296CE-6DCC-4492-AEED-02DF4D705D6D}" type="datetimeFigureOut">
              <a:rPr lang="ro-RO" smtClean="0"/>
              <a:t>18.12.2015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18619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o-RO"/>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5" name="Date Placeholder 4"/>
          <p:cNvSpPr>
            <a:spLocks noGrp="1"/>
          </p:cNvSpPr>
          <p:nvPr>
            <p:ph type="dt" sz="half" idx="10"/>
          </p:nvPr>
        </p:nvSpPr>
        <p:spPr/>
        <p:txBody>
          <a:bodyPr/>
          <a:lstStyle/>
          <a:p>
            <a:fld id="{03F296CE-6DCC-4492-AEED-02DF4D705D6D}" type="datetimeFigureOut">
              <a:rPr lang="ro-RO" smtClean="0"/>
              <a:t>18.12.2015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305360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ro-R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7" name="Date Placeholder 6"/>
          <p:cNvSpPr>
            <a:spLocks noGrp="1"/>
          </p:cNvSpPr>
          <p:nvPr>
            <p:ph type="dt" sz="half" idx="10"/>
          </p:nvPr>
        </p:nvSpPr>
        <p:spPr/>
        <p:txBody>
          <a:bodyPr/>
          <a:lstStyle/>
          <a:p>
            <a:fld id="{03F296CE-6DCC-4492-AEED-02DF4D705D6D}" type="datetimeFigureOut">
              <a:rPr lang="ro-RO" smtClean="0"/>
              <a:t>18.12.2015</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3369500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o-RO"/>
          </a:p>
        </p:txBody>
      </p:sp>
      <p:sp>
        <p:nvSpPr>
          <p:cNvPr id="3" name="Date Placeholder 2"/>
          <p:cNvSpPr>
            <a:spLocks noGrp="1"/>
          </p:cNvSpPr>
          <p:nvPr>
            <p:ph type="dt" sz="half" idx="10"/>
          </p:nvPr>
        </p:nvSpPr>
        <p:spPr/>
        <p:txBody>
          <a:bodyPr/>
          <a:lstStyle/>
          <a:p>
            <a:fld id="{03F296CE-6DCC-4492-AEED-02DF4D705D6D}" type="datetimeFigureOut">
              <a:rPr lang="ro-RO" smtClean="0"/>
              <a:t>18.12.2015</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2057692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F296CE-6DCC-4492-AEED-02DF4D705D6D}" type="datetimeFigureOut">
              <a:rPr lang="ro-RO" smtClean="0"/>
              <a:t>18.12.2015</a:t>
            </a:fld>
            <a:endParaRPr lang="ro-RO"/>
          </a:p>
        </p:txBody>
      </p:sp>
      <p:sp>
        <p:nvSpPr>
          <p:cNvPr id="3" name="Footer Placeholder 2"/>
          <p:cNvSpPr>
            <a:spLocks noGrp="1"/>
          </p:cNvSpPr>
          <p:nvPr>
            <p:ph type="ftr" sz="quarter" idx="11"/>
          </p:nvPr>
        </p:nvSpPr>
        <p:spPr/>
        <p:txBody>
          <a:bodyPr/>
          <a:lstStyle/>
          <a:p>
            <a:endParaRPr lang="ro-RO"/>
          </a:p>
        </p:txBody>
      </p:sp>
      <p:sp>
        <p:nvSpPr>
          <p:cNvPr id="4" name="Slide Number Placeholder 3"/>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3347539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ro-R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F296CE-6DCC-4492-AEED-02DF4D705D6D}" type="datetimeFigureOut">
              <a:rPr lang="ro-RO" smtClean="0"/>
              <a:t>18.12.2015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2631547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ro-R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o-RO"/>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F296CE-6DCC-4492-AEED-02DF4D705D6D}" type="datetimeFigureOut">
              <a:rPr lang="ro-RO" smtClean="0"/>
              <a:t>18.12.2015</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174832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o-R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Date Placeholder 3"/>
          <p:cNvSpPr>
            <a:spLocks noGrp="1"/>
          </p:cNvSpPr>
          <p:nvPr>
            <p:ph type="dt" sz="half" idx="10"/>
          </p:nvPr>
        </p:nvSpPr>
        <p:spPr/>
        <p:txBody>
          <a:bodyPr/>
          <a:lstStyle/>
          <a:p>
            <a:fld id="{03F296CE-6DCC-4492-AEED-02DF4D705D6D}" type="datetimeFigureOut">
              <a:rPr lang="ro-RO" smtClean="0"/>
              <a:t>18.12.2015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2416638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ro-RO"/>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Date Placeholder 3"/>
          <p:cNvSpPr>
            <a:spLocks noGrp="1"/>
          </p:cNvSpPr>
          <p:nvPr>
            <p:ph type="dt" sz="half" idx="10"/>
          </p:nvPr>
        </p:nvSpPr>
        <p:spPr/>
        <p:txBody>
          <a:bodyPr/>
          <a:lstStyle/>
          <a:p>
            <a:fld id="{03F296CE-6DCC-4492-AEED-02DF4D705D6D}" type="datetimeFigureOut">
              <a:rPr lang="ro-RO" smtClean="0"/>
              <a:t>18.12.2015</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701AD92A-8F94-46FC-805C-3FBE1F0FAFE3}" type="slidenum">
              <a:rPr lang="ro-RO" smtClean="0"/>
              <a:t>‹#›</a:t>
            </a:fld>
            <a:endParaRPr lang="ro-RO"/>
          </a:p>
        </p:txBody>
      </p:sp>
    </p:spTree>
    <p:extLst>
      <p:ext uri="{BB962C8B-B14F-4D97-AF65-F5344CB8AC3E}">
        <p14:creationId xmlns:p14="http://schemas.microsoft.com/office/powerpoint/2010/main" val="4255079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3000"/>
            <a:lum/>
          </a:blip>
          <a:srcRect/>
          <a:stretch>
            <a:fillRect t="-10000" b="-10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ro-RO"/>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o-RO"/>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F296CE-6DCC-4492-AEED-02DF4D705D6D}" type="datetimeFigureOut">
              <a:rPr lang="ro-RO" smtClean="0"/>
              <a:t>18.12.2015</a:t>
            </a:fld>
            <a:endParaRPr lang="ro-RO"/>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o-RO"/>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1AD92A-8F94-46FC-805C-3FBE1F0FAFE3}" type="slidenum">
              <a:rPr lang="ro-RO" smtClean="0"/>
              <a:t>‹#›</a:t>
            </a:fld>
            <a:endParaRPr lang="ro-RO"/>
          </a:p>
        </p:txBody>
      </p:sp>
    </p:spTree>
    <p:extLst>
      <p:ext uri="{BB962C8B-B14F-4D97-AF65-F5344CB8AC3E}">
        <p14:creationId xmlns:p14="http://schemas.microsoft.com/office/powerpoint/2010/main" val="1166261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476672"/>
            <a:ext cx="7772400" cy="1470025"/>
          </a:xfrm>
        </p:spPr>
        <p:txBody>
          <a:bodyPr>
            <a:normAutofit/>
          </a:bodyPr>
          <a:lstStyle/>
          <a:p>
            <a:r>
              <a:rPr lang="ro-RO" sz="7200" b="1" dirty="0" smtClean="0">
                <a:latin typeface="Times New Roman" pitchFamily="18" charset="0"/>
                <a:cs typeface="Times New Roman" pitchFamily="18" charset="0"/>
              </a:rPr>
              <a:t>Plan de afaceri:</a:t>
            </a:r>
            <a:endParaRPr lang="ro-RO" sz="7200" b="1" dirty="0">
              <a:latin typeface="Times New Roman" pitchFamily="18" charset="0"/>
              <a:cs typeface="Times New Roman" pitchFamily="18" charset="0"/>
            </a:endParaRPr>
          </a:p>
        </p:txBody>
      </p:sp>
      <p:sp>
        <p:nvSpPr>
          <p:cNvPr id="3" name="Subtitle 2"/>
          <p:cNvSpPr>
            <a:spLocks noGrp="1"/>
          </p:cNvSpPr>
          <p:nvPr>
            <p:ph type="subTitle" idx="1"/>
          </p:nvPr>
        </p:nvSpPr>
        <p:spPr>
          <a:xfrm>
            <a:off x="251520" y="2060848"/>
            <a:ext cx="7920880" cy="4680520"/>
          </a:xfrm>
        </p:spPr>
        <p:txBody>
          <a:bodyPr>
            <a:noAutofit/>
          </a:bodyPr>
          <a:lstStyle/>
          <a:p>
            <a:r>
              <a:rPr lang="ro-RO" sz="8000" b="1" dirty="0" smtClean="0"/>
              <a:t> </a:t>
            </a:r>
            <a:r>
              <a:rPr lang="ro-RO" sz="8000" b="1" dirty="0" smtClean="0">
                <a:solidFill>
                  <a:schemeClr val="tx1"/>
                </a:solidFill>
                <a:latin typeface="Times New Roman" pitchFamily="18" charset="0"/>
                <a:cs typeface="Times New Roman" pitchFamily="18" charset="0"/>
              </a:rPr>
              <a:t>FERMĂ DE IEPURI </a:t>
            </a:r>
          </a:p>
          <a:p>
            <a:pPr algn="l"/>
            <a:endParaRPr lang="ro-RO" sz="2500" b="1" dirty="0" smtClean="0">
              <a:solidFill>
                <a:schemeClr val="tx1"/>
              </a:solidFill>
              <a:latin typeface="Times New Roman" pitchFamily="18" charset="0"/>
              <a:cs typeface="Times New Roman" pitchFamily="18" charset="0"/>
            </a:endParaRPr>
          </a:p>
          <a:p>
            <a:pPr algn="l"/>
            <a:r>
              <a:rPr lang="ro-RO" sz="2500" b="1" dirty="0" smtClean="0">
                <a:solidFill>
                  <a:schemeClr val="tx1"/>
                </a:solidFill>
                <a:latin typeface="Times New Roman" pitchFamily="18" charset="0"/>
                <a:cs typeface="Times New Roman" pitchFamily="18" charset="0"/>
              </a:rPr>
              <a:t>Student:Ursu Iulia-Elena</a:t>
            </a:r>
          </a:p>
          <a:p>
            <a:pPr algn="l"/>
            <a:r>
              <a:rPr lang="ro-RO" sz="2500" b="1" dirty="0" smtClean="0">
                <a:solidFill>
                  <a:schemeClr val="tx1"/>
                </a:solidFill>
                <a:latin typeface="Times New Roman" pitchFamily="18" charset="0"/>
                <a:cs typeface="Times New Roman" pitchFamily="18" charset="0"/>
              </a:rPr>
              <a:t>Grupa:22C22B</a:t>
            </a:r>
          </a:p>
          <a:p>
            <a:pPr algn="l"/>
            <a:r>
              <a:rPr lang="ro-RO" sz="2500" b="1" dirty="0" smtClean="0">
                <a:solidFill>
                  <a:schemeClr val="tx1"/>
                </a:solidFill>
                <a:latin typeface="Times New Roman" pitchFamily="18" charset="0"/>
                <a:cs typeface="Times New Roman" pitchFamily="18" charset="0"/>
              </a:rPr>
              <a:t>Specializarea:Calculatoare</a:t>
            </a:r>
            <a:endParaRPr lang="ro-RO" sz="25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86469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o-RO" sz="7200" b="1" dirty="0" smtClean="0">
                <a:latin typeface="Times New Roman" pitchFamily="18" charset="0"/>
                <a:cs typeface="Times New Roman" pitchFamily="18" charset="0"/>
              </a:rPr>
              <a:t>Cuprins:</a:t>
            </a:r>
            <a:endParaRPr lang="ro-RO" sz="7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257800"/>
          </a:xfrm>
        </p:spPr>
        <p:txBody>
          <a:bodyPr>
            <a:noAutofit/>
          </a:bodyPr>
          <a:lstStyle/>
          <a:p>
            <a:pPr marL="0" indent="0">
              <a:buNone/>
            </a:pPr>
            <a:r>
              <a:rPr lang="ro-RO" b="1" dirty="0" smtClean="0">
                <a:latin typeface="Times New Roman" pitchFamily="18" charset="0"/>
                <a:cs typeface="Times New Roman" pitchFamily="18" charset="0"/>
              </a:rPr>
              <a:t>1.Sinteza planului de afacere</a:t>
            </a:r>
          </a:p>
          <a:p>
            <a:pPr marL="0" indent="0">
              <a:buNone/>
            </a:pPr>
            <a:r>
              <a:rPr lang="ro-RO" b="1" dirty="0" smtClean="0">
                <a:latin typeface="Times New Roman" pitchFamily="18" charset="0"/>
                <a:cs typeface="Times New Roman" pitchFamily="18" charset="0"/>
              </a:rPr>
              <a:t>2.Datele de indentificare</a:t>
            </a:r>
          </a:p>
          <a:p>
            <a:pPr marL="0" indent="0">
              <a:buNone/>
            </a:pPr>
            <a:r>
              <a:rPr lang="ro-RO" b="1" dirty="0" smtClean="0">
                <a:latin typeface="Times New Roman" pitchFamily="18" charset="0"/>
                <a:cs typeface="Times New Roman" pitchFamily="18" charset="0"/>
              </a:rPr>
              <a:t>3.Descrierea afacerii</a:t>
            </a:r>
          </a:p>
          <a:p>
            <a:pPr marL="0" indent="0">
              <a:buNone/>
            </a:pPr>
            <a:r>
              <a:rPr lang="ro-RO" b="1" dirty="0" smtClean="0">
                <a:latin typeface="Times New Roman" pitchFamily="18" charset="0"/>
                <a:cs typeface="Times New Roman" pitchFamily="18" charset="0"/>
              </a:rPr>
              <a:t>4.Definirea pieței </a:t>
            </a:r>
          </a:p>
          <a:p>
            <a:pPr marL="0" indent="0">
              <a:buNone/>
            </a:pPr>
            <a:r>
              <a:rPr lang="ro-RO" b="1" dirty="0" smtClean="0">
                <a:latin typeface="Times New Roman" pitchFamily="18" charset="0"/>
                <a:cs typeface="Times New Roman" pitchFamily="18" charset="0"/>
              </a:rPr>
              <a:t>5.Descrierea produselor și a serviciilor</a:t>
            </a:r>
          </a:p>
          <a:p>
            <a:pPr marL="0" indent="0">
              <a:buNone/>
            </a:pPr>
            <a:r>
              <a:rPr lang="ro-RO" b="1" dirty="0" smtClean="0">
                <a:latin typeface="Times New Roman" pitchFamily="18" charset="0"/>
                <a:cs typeface="Times New Roman" pitchFamily="18" charset="0"/>
              </a:rPr>
              <a:t>6.Planul de marketing</a:t>
            </a:r>
          </a:p>
          <a:p>
            <a:pPr marL="0" indent="0">
              <a:buNone/>
            </a:pPr>
            <a:r>
              <a:rPr lang="ro-RO" b="1" dirty="0" smtClean="0">
                <a:latin typeface="Times New Roman" pitchFamily="18" charset="0"/>
                <a:cs typeface="Times New Roman" pitchFamily="18" charset="0"/>
              </a:rPr>
              <a:t>7.Organizarea și managementul</a:t>
            </a:r>
          </a:p>
          <a:p>
            <a:pPr marL="0" indent="0">
              <a:buNone/>
            </a:pPr>
            <a:r>
              <a:rPr lang="ro-RO" b="1" dirty="0" smtClean="0">
                <a:latin typeface="Times New Roman" pitchFamily="18" charset="0"/>
                <a:cs typeface="Times New Roman" pitchFamily="18" charset="0"/>
              </a:rPr>
              <a:t>8. Situația  economico-</a:t>
            </a:r>
            <a:r>
              <a:rPr lang="vi-VN" b="1" dirty="0" smtClean="0">
                <a:latin typeface="Times New Roman" pitchFamily="18" charset="0"/>
                <a:cs typeface="Times New Roman" pitchFamily="18" charset="0"/>
              </a:rPr>
              <a:t>financiară </a:t>
            </a:r>
            <a:endParaRPr lang="ro-RO" b="1" dirty="0">
              <a:latin typeface="Times New Roman" pitchFamily="18" charset="0"/>
              <a:cs typeface="Times New Roman" pitchFamily="18" charset="0"/>
            </a:endParaRPr>
          </a:p>
        </p:txBody>
      </p:sp>
    </p:spTree>
    <p:extLst>
      <p:ext uri="{BB962C8B-B14F-4D97-AF65-F5344CB8AC3E}">
        <p14:creationId xmlns:p14="http://schemas.microsoft.com/office/powerpoint/2010/main" val="1287434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o-RO" b="1" dirty="0" smtClean="0">
                <a:latin typeface="Times New Roman" pitchFamily="18" charset="0"/>
                <a:cs typeface="Times New Roman" pitchFamily="18" charset="0"/>
              </a:rPr>
              <a:t>Sinteza planului de afacere</a:t>
            </a:r>
            <a:endParaRPr lang="ro-RO" b="1" dirty="0">
              <a:latin typeface="Times New Roman" pitchFamily="18" charset="0"/>
              <a:cs typeface="Times New Roman" pitchFamily="18" charset="0"/>
            </a:endParaRPr>
          </a:p>
        </p:txBody>
      </p:sp>
      <p:sp>
        <p:nvSpPr>
          <p:cNvPr id="3" name="Content Placeholder 2"/>
          <p:cNvSpPr>
            <a:spLocks noGrp="1"/>
          </p:cNvSpPr>
          <p:nvPr>
            <p:ph idx="1"/>
          </p:nvPr>
        </p:nvSpPr>
        <p:spPr>
          <a:xfrm>
            <a:off x="0" y="1484784"/>
            <a:ext cx="9144000" cy="4752528"/>
          </a:xfrm>
        </p:spPr>
        <p:txBody>
          <a:bodyPr>
            <a:normAutofit fontScale="85000" lnSpcReduction="20000"/>
          </a:bodyPr>
          <a:lstStyle/>
          <a:p>
            <a:pPr marL="0" indent="0">
              <a:buNone/>
            </a:pPr>
            <a:r>
              <a:rPr lang="ro-RO" sz="3500" dirty="0" smtClean="0">
                <a:latin typeface="Times New Roman" pitchFamily="18" charset="0"/>
                <a:cs typeface="Times New Roman" pitchFamily="18" charset="0"/>
              </a:rPr>
              <a:t>    </a:t>
            </a:r>
            <a:r>
              <a:rPr lang="vi-VN" sz="3500" dirty="0">
                <a:latin typeface="Times New Roman" pitchFamily="18" charset="0"/>
                <a:cs typeface="Times New Roman" pitchFamily="18" charset="0"/>
              </a:rPr>
              <a:t> </a:t>
            </a:r>
            <a:r>
              <a:rPr lang="ro-RO" sz="3500" dirty="0">
                <a:latin typeface="Times New Roman" pitchFamily="18" charset="0"/>
                <a:cs typeface="Times New Roman" pitchFamily="18" charset="0"/>
              </a:rPr>
              <a:t> </a:t>
            </a:r>
            <a:r>
              <a:rPr lang="ro-RO" sz="3800" dirty="0" smtClean="0">
                <a:latin typeface="Times New Roman" pitchFamily="18" charset="0"/>
                <a:cs typeface="Times New Roman" pitchFamily="18" charset="0"/>
              </a:rPr>
              <a:t>Î</a:t>
            </a:r>
            <a:r>
              <a:rPr lang="vi-VN" sz="3800" dirty="0" smtClean="0">
                <a:latin typeface="Times New Roman" pitchFamily="18" charset="0"/>
                <a:cs typeface="Times New Roman" pitchFamily="18" charset="0"/>
              </a:rPr>
              <a:t>n </a:t>
            </a:r>
            <a:r>
              <a:rPr lang="vi-VN" sz="3800" dirty="0">
                <a:latin typeface="Times New Roman" pitchFamily="18" charset="0"/>
                <a:cs typeface="Times New Roman" pitchFamily="18" charset="0"/>
              </a:rPr>
              <a:t>urma studiilor efectuate pe piața din România, am ajuns la concluzia că potențialul reușitei înființării unei ferme de iepuri va prezenta un real </a:t>
            </a:r>
            <a:r>
              <a:rPr lang="vi-VN" sz="3800" dirty="0" smtClean="0">
                <a:latin typeface="Times New Roman" pitchFamily="18" charset="0"/>
                <a:cs typeface="Times New Roman" pitchFamily="18" charset="0"/>
              </a:rPr>
              <a:t>succes.</a:t>
            </a:r>
            <a:r>
              <a:rPr lang="ro-RO" sz="3800" dirty="0" smtClean="0">
                <a:latin typeface="Times New Roman" pitchFamily="18" charset="0"/>
                <a:cs typeface="Times New Roman" pitchFamily="18" charset="0"/>
              </a:rPr>
              <a:t> </a:t>
            </a:r>
            <a:r>
              <a:rPr lang="vi-VN" sz="3800" dirty="0" smtClean="0">
                <a:latin typeface="Times New Roman" pitchFamily="18" charset="0"/>
                <a:cs typeface="Times New Roman" pitchFamily="18" charset="0"/>
              </a:rPr>
              <a:t>Momentan</a:t>
            </a:r>
            <a:r>
              <a:rPr lang="vi-VN" sz="3800" dirty="0">
                <a:latin typeface="Times New Roman" pitchFamily="18" charset="0"/>
                <a:cs typeface="Times New Roman" pitchFamily="18" charset="0"/>
              </a:rPr>
              <a:t>, cererea de carne de iepure pe piață prezintă o constanta tendința de creștere, dar oferta se situează mult sub nivelul cererii. </a:t>
            </a:r>
            <a:endParaRPr lang="ro-RO" sz="3800" dirty="0" smtClean="0">
              <a:latin typeface="Times New Roman" pitchFamily="18" charset="0"/>
              <a:cs typeface="Times New Roman" pitchFamily="18" charset="0"/>
            </a:endParaRPr>
          </a:p>
          <a:p>
            <a:pPr marL="0" indent="0">
              <a:buNone/>
            </a:pPr>
            <a:r>
              <a:rPr lang="ro-RO" sz="3800" dirty="0">
                <a:latin typeface="Times New Roman" pitchFamily="18" charset="0"/>
                <a:cs typeface="Times New Roman" pitchFamily="18" charset="0"/>
              </a:rPr>
              <a:t> </a:t>
            </a:r>
            <a:r>
              <a:rPr lang="ro-RO" sz="3800" dirty="0" smtClean="0">
                <a:latin typeface="Times New Roman" pitchFamily="18" charset="0"/>
                <a:cs typeface="Times New Roman" pitchFamily="18" charset="0"/>
              </a:rPr>
              <a:t>     </a:t>
            </a:r>
            <a:r>
              <a:rPr lang="vi-VN" sz="3800" dirty="0" smtClean="0">
                <a:latin typeface="Times New Roman" pitchFamily="18" charset="0"/>
                <a:cs typeface="Times New Roman" pitchFamily="18" charset="0"/>
              </a:rPr>
              <a:t>Am </a:t>
            </a:r>
            <a:r>
              <a:rPr lang="vi-VN" sz="3800" dirty="0">
                <a:latin typeface="Times New Roman" pitchFamily="18" charset="0"/>
                <a:cs typeface="Times New Roman" pitchFamily="18" charset="0"/>
              </a:rPr>
              <a:t>efectuat o analiză proprie a acestui sector de </a:t>
            </a:r>
            <a:r>
              <a:rPr lang="vi-VN" sz="3800" dirty="0" smtClean="0">
                <a:latin typeface="Times New Roman" pitchFamily="18" charset="0"/>
                <a:cs typeface="Times New Roman" pitchFamily="18" charset="0"/>
              </a:rPr>
              <a:t>activitate,am </a:t>
            </a:r>
            <a:r>
              <a:rPr lang="vi-VN" sz="3800" dirty="0">
                <a:latin typeface="Times New Roman" pitchFamily="18" charset="0"/>
                <a:cs typeface="Times New Roman" pitchFamily="18" charset="0"/>
              </a:rPr>
              <a:t>studiat oferta de pe piață și am ajuns la concluzia că ne vom concentra activitatea pe înființarea celei mai performante ferme de iepuri din partea de est a țării. </a:t>
            </a:r>
            <a:r>
              <a:rPr lang="vi-VN" sz="3800" dirty="0" smtClean="0">
                <a:latin typeface="Times New Roman" pitchFamily="18" charset="0"/>
                <a:cs typeface="Times New Roman" pitchFamily="18" charset="0"/>
              </a:rPr>
              <a:t> </a:t>
            </a:r>
            <a:endParaRPr lang="ro-RO" sz="3800" dirty="0">
              <a:latin typeface="Times New Roman" pitchFamily="18" charset="0"/>
              <a:cs typeface="Times New Roman" pitchFamily="18" charset="0"/>
            </a:endParaRPr>
          </a:p>
        </p:txBody>
      </p:sp>
    </p:spTree>
    <p:extLst>
      <p:ext uri="{BB962C8B-B14F-4D97-AF65-F5344CB8AC3E}">
        <p14:creationId xmlns:p14="http://schemas.microsoft.com/office/powerpoint/2010/main" val="2610302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smtClean="0">
                <a:latin typeface="Times New Roman" pitchFamily="18" charset="0"/>
                <a:cs typeface="Times New Roman" pitchFamily="18" charset="0"/>
              </a:rPr>
              <a:t>Datele de identificare</a:t>
            </a:r>
            <a:endParaRPr lang="ro-RO"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069160"/>
          </a:xfrm>
        </p:spPr>
        <p:txBody>
          <a:bodyPr>
            <a:normAutofit/>
          </a:bodyPr>
          <a:lstStyle/>
          <a:p>
            <a:pPr>
              <a:buFont typeface="Wingdings" pitchFamily="2" charset="2"/>
              <a:buChar char="Ø"/>
            </a:pPr>
            <a:r>
              <a:rPr lang="ro-RO" b="1" dirty="0" smtClean="0">
                <a:latin typeface="Times New Roman" pitchFamily="18" charset="0"/>
                <a:cs typeface="Times New Roman" pitchFamily="18" charset="0"/>
              </a:rPr>
              <a:t>Denumirea:SC BioRabbit SRL</a:t>
            </a:r>
          </a:p>
          <a:p>
            <a:pPr>
              <a:buFont typeface="Wingdings" pitchFamily="2" charset="2"/>
              <a:buChar char="Ø"/>
            </a:pPr>
            <a:r>
              <a:rPr lang="ro-RO" b="1" dirty="0" smtClean="0">
                <a:latin typeface="Times New Roman" pitchFamily="18" charset="0"/>
                <a:cs typeface="Times New Roman" pitchFamily="18" charset="0"/>
              </a:rPr>
              <a:t>Forma </a:t>
            </a:r>
            <a:r>
              <a:rPr lang="vi-VN" b="1" dirty="0" smtClean="0">
                <a:latin typeface="Times New Roman" pitchFamily="18" charset="0"/>
                <a:cs typeface="Times New Roman" pitchFamily="18" charset="0"/>
              </a:rPr>
              <a:t>legală</a:t>
            </a:r>
            <a:r>
              <a:rPr lang="ro-RO" b="1" dirty="0" smtClean="0">
                <a:latin typeface="Times New Roman" pitchFamily="18" charset="0"/>
                <a:cs typeface="Times New Roman" pitchFamily="18" charset="0"/>
              </a:rPr>
              <a:t>:SRL</a:t>
            </a:r>
          </a:p>
          <a:p>
            <a:pPr>
              <a:buFont typeface="Wingdings" pitchFamily="2" charset="2"/>
              <a:buChar char="Ø"/>
            </a:pPr>
            <a:r>
              <a:rPr lang="ro-RO" b="1" dirty="0" smtClean="0">
                <a:latin typeface="Times New Roman" pitchFamily="18" charset="0"/>
                <a:cs typeface="Times New Roman" pitchFamily="18" charset="0"/>
              </a:rPr>
              <a:t>Sediul social:</a:t>
            </a:r>
            <a:r>
              <a:rPr lang="ro-RO" b="1" dirty="0">
                <a:latin typeface="Times New Roman" pitchFamily="18" charset="0"/>
                <a:cs typeface="Times New Roman" pitchFamily="18" charset="0"/>
              </a:rPr>
              <a:t>Galaţi</a:t>
            </a:r>
            <a:r>
              <a:rPr lang="ro-RO" b="1" dirty="0" smtClean="0">
                <a:latin typeface="Times New Roman" pitchFamily="18" charset="0"/>
                <a:cs typeface="Times New Roman" pitchFamily="18" charset="0"/>
              </a:rPr>
              <a:t>,Comuna Cudalbi</a:t>
            </a:r>
          </a:p>
          <a:p>
            <a:pPr>
              <a:buFont typeface="Wingdings" pitchFamily="2" charset="2"/>
              <a:buChar char="Ø"/>
            </a:pPr>
            <a:r>
              <a:rPr lang="ro-RO" b="1" dirty="0" smtClean="0">
                <a:latin typeface="Times New Roman" pitchFamily="18" charset="0"/>
                <a:cs typeface="Times New Roman" pitchFamily="18" charset="0"/>
              </a:rPr>
              <a:t>Capital social:600.000 RON</a:t>
            </a:r>
          </a:p>
          <a:p>
            <a:pPr>
              <a:buFont typeface="Wingdings" pitchFamily="2" charset="2"/>
              <a:buChar char="Ø"/>
            </a:pPr>
            <a:r>
              <a:rPr lang="ro-RO" b="1" dirty="0" smtClean="0">
                <a:latin typeface="Times New Roman" pitchFamily="18" charset="0"/>
                <a:cs typeface="Times New Roman" pitchFamily="18" charset="0"/>
              </a:rPr>
              <a:t>Cod Unic de Inregistrare:7436636</a:t>
            </a:r>
          </a:p>
          <a:p>
            <a:pPr>
              <a:buFont typeface="Wingdings" pitchFamily="2" charset="2"/>
              <a:buChar char="Ø"/>
            </a:pPr>
            <a:r>
              <a:rPr lang="ro-RO" b="1" dirty="0" smtClean="0">
                <a:latin typeface="Times New Roman" pitchFamily="18" charset="0"/>
                <a:cs typeface="Times New Roman" pitchFamily="18" charset="0"/>
              </a:rPr>
              <a:t>J-ul:J17/861/1995</a:t>
            </a:r>
          </a:p>
          <a:p>
            <a:pPr>
              <a:buFont typeface="Wingdings" pitchFamily="2" charset="2"/>
              <a:buChar char="Ø"/>
            </a:pPr>
            <a:r>
              <a:rPr lang="ro-RO" b="1" dirty="0" smtClean="0">
                <a:latin typeface="Times New Roman" pitchFamily="18" charset="0"/>
                <a:cs typeface="Times New Roman" pitchFamily="18" charset="0"/>
              </a:rPr>
              <a:t>Cod CAEN:0149</a:t>
            </a:r>
          </a:p>
          <a:p>
            <a:pPr marL="0" indent="0">
              <a:buNone/>
            </a:pPr>
            <a:endParaRPr lang="ro-RO" b="1"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146248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smtClean="0">
                <a:latin typeface="Times New Roman" pitchFamily="18" charset="0"/>
                <a:cs typeface="Times New Roman" pitchFamily="18" charset="0"/>
              </a:rPr>
              <a:t>Descrierea afacerii</a:t>
            </a:r>
            <a:endParaRPr lang="ro-RO"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40768"/>
            <a:ext cx="8229600" cy="4785395"/>
          </a:xfrm>
        </p:spPr>
        <p:txBody>
          <a:bodyPr>
            <a:normAutofit fontScale="25000" lnSpcReduction="20000"/>
          </a:bodyPr>
          <a:lstStyle/>
          <a:p>
            <a:pPr marL="0" indent="0">
              <a:buNone/>
            </a:pPr>
            <a:r>
              <a:rPr lang="ro-RO" sz="12800" u="sng" dirty="0" smtClean="0">
                <a:latin typeface="Times New Roman" pitchFamily="18" charset="0"/>
                <a:cs typeface="Times New Roman" pitchFamily="18" charset="0"/>
              </a:rPr>
              <a:t>Obiective:</a:t>
            </a:r>
          </a:p>
          <a:p>
            <a:pPr fontAlgn="base"/>
            <a:r>
              <a:rPr lang="vi-VN" sz="9600" dirty="0">
                <a:latin typeface="+mj-lt"/>
              </a:rPr>
              <a:t> Anul I de activitate – obținerea unui efectiv anual de valorificat de 26.500 iepuri. </a:t>
            </a:r>
          </a:p>
          <a:p>
            <a:pPr fontAlgn="base"/>
            <a:r>
              <a:rPr lang="vi-VN" sz="9600" dirty="0">
                <a:latin typeface="+mj-lt"/>
              </a:rPr>
              <a:t> Anul </a:t>
            </a:r>
            <a:r>
              <a:rPr lang="vi-VN" sz="9600" dirty="0" smtClean="0">
                <a:latin typeface="+mj-lt"/>
              </a:rPr>
              <a:t>II </a:t>
            </a:r>
            <a:r>
              <a:rPr lang="vi-VN" sz="9600" dirty="0">
                <a:latin typeface="+mj-lt"/>
              </a:rPr>
              <a:t>de activitate – creșterea cu 50% a efectivului de valorificat. </a:t>
            </a:r>
          </a:p>
          <a:p>
            <a:pPr fontAlgn="base"/>
            <a:r>
              <a:rPr lang="vi-VN" sz="9600" dirty="0">
                <a:latin typeface="+mj-lt"/>
              </a:rPr>
              <a:t> Anul III de activitate – dublarea efectivului de valorificat din anul </a:t>
            </a:r>
            <a:r>
              <a:rPr lang="vi-VN" sz="9600" dirty="0" smtClean="0">
                <a:latin typeface="+mj-lt"/>
              </a:rPr>
              <a:t>II </a:t>
            </a:r>
            <a:r>
              <a:rPr lang="vi-VN" sz="9600" dirty="0">
                <a:latin typeface="+mj-lt"/>
              </a:rPr>
              <a:t>de activitate și înființarea unei noi ferme </a:t>
            </a:r>
            <a:r>
              <a:rPr lang="vi-VN" sz="9600" dirty="0" smtClean="0">
                <a:latin typeface="+mj-lt"/>
              </a:rPr>
              <a:t>de</a:t>
            </a:r>
            <a:r>
              <a:rPr lang="ro-RO" sz="9600" dirty="0" smtClean="0">
                <a:latin typeface="+mj-lt"/>
              </a:rPr>
              <a:t> </a:t>
            </a:r>
            <a:r>
              <a:rPr lang="ro-RO" sz="9600" dirty="0">
                <a:latin typeface="Times New Roman" pitchFamily="18" charset="0"/>
                <a:cs typeface="Times New Roman" pitchFamily="18" charset="0"/>
              </a:rPr>
              <a:t>aceeaşi</a:t>
            </a:r>
            <a:r>
              <a:rPr lang="vi-VN" sz="9600" dirty="0" smtClean="0">
                <a:latin typeface="+mj-lt"/>
              </a:rPr>
              <a:t> </a:t>
            </a:r>
            <a:r>
              <a:rPr lang="vi-VN" sz="9600" dirty="0">
                <a:latin typeface="+mj-lt"/>
              </a:rPr>
              <a:t>capacitate </a:t>
            </a:r>
            <a:r>
              <a:rPr lang="ro-RO" sz="9600" dirty="0" smtClean="0">
                <a:latin typeface="+mj-lt"/>
              </a:rPr>
              <a:t>.</a:t>
            </a:r>
            <a:r>
              <a:rPr lang="ro-RO" sz="9600" dirty="0" smtClean="0">
                <a:latin typeface="Times New Roman" pitchFamily="18" charset="0"/>
                <a:cs typeface="Times New Roman" pitchFamily="18" charset="0"/>
              </a:rPr>
              <a:t>Vom </a:t>
            </a:r>
            <a:r>
              <a:rPr lang="ro-RO" sz="9600" dirty="0">
                <a:latin typeface="Times New Roman" pitchFamily="18" charset="0"/>
                <a:cs typeface="Times New Roman" pitchFamily="18" charset="0"/>
              </a:rPr>
              <a:t>putea atinge un grad de ocupare al pieței de minimum 15</a:t>
            </a:r>
            <a:r>
              <a:rPr lang="ro-RO" sz="9600" dirty="0" smtClean="0">
                <a:latin typeface="Times New Roman" pitchFamily="18" charset="0"/>
                <a:cs typeface="Times New Roman" pitchFamily="18" charset="0"/>
              </a:rPr>
              <a:t>%</a:t>
            </a:r>
            <a:r>
              <a:rPr lang="ro-RO" sz="9600" dirty="0" smtClean="0">
                <a:latin typeface="+mj-lt"/>
                <a:cs typeface="Times New Roman" pitchFamily="18" charset="0"/>
              </a:rPr>
              <a:t>. </a:t>
            </a:r>
          </a:p>
          <a:p>
            <a:pPr fontAlgn="base"/>
            <a:r>
              <a:rPr lang="vi-VN" sz="9600" dirty="0" smtClean="0">
                <a:latin typeface="+mj-lt"/>
              </a:rPr>
              <a:t> </a:t>
            </a:r>
            <a:r>
              <a:rPr lang="vi-VN" sz="9600" dirty="0">
                <a:latin typeface="+mj-lt"/>
              </a:rPr>
              <a:t>Anul  IV de activitate – creșterea efectivului de </a:t>
            </a:r>
            <a:r>
              <a:rPr lang="vi-VN" sz="9600" dirty="0" smtClean="0">
                <a:latin typeface="+mj-lt"/>
              </a:rPr>
              <a:t>sacrificat </a:t>
            </a:r>
            <a:r>
              <a:rPr lang="vi-VN" sz="9600" dirty="0">
                <a:latin typeface="+mj-lt"/>
              </a:rPr>
              <a:t>cu 500% pe ambele ferme, față de anul precedent. </a:t>
            </a:r>
          </a:p>
          <a:p>
            <a:pPr fontAlgn="base"/>
            <a:r>
              <a:rPr lang="vi-VN" sz="9600" dirty="0">
                <a:latin typeface="+mj-lt"/>
              </a:rPr>
              <a:t> Anul V de activitate – construirea unui abator propriu, unde să putem asigura fluxul de sacrificare pentru creșterea cu 800% a efectivului de sacrificat. </a:t>
            </a:r>
            <a:r>
              <a:rPr lang="ro-RO" sz="9600" dirty="0" smtClean="0">
                <a:latin typeface="Times New Roman" pitchFamily="18" charset="0"/>
                <a:cs typeface="Times New Roman" pitchFamily="18" charset="0"/>
              </a:rPr>
              <a:t>Se ia in calcul producerea de carne de iepure pentru export.</a:t>
            </a:r>
            <a:endParaRPr lang="ro-RO" sz="9600" dirty="0">
              <a:latin typeface="Times New Roman" pitchFamily="18" charset="0"/>
              <a:cs typeface="Times New Roman" pitchFamily="18" charset="0"/>
            </a:endParaRPr>
          </a:p>
        </p:txBody>
      </p:sp>
    </p:spTree>
    <p:extLst>
      <p:ext uri="{BB962C8B-B14F-4D97-AF65-F5344CB8AC3E}">
        <p14:creationId xmlns:p14="http://schemas.microsoft.com/office/powerpoint/2010/main" val="2034320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620688"/>
            <a:ext cx="8229600" cy="1143000"/>
          </a:xfrm>
        </p:spPr>
        <p:txBody>
          <a:bodyPr/>
          <a:lstStyle/>
          <a:p>
            <a:r>
              <a:rPr lang="ro-RO" b="1" dirty="0">
                <a:latin typeface="Times New Roman" pitchFamily="18" charset="0"/>
                <a:cs typeface="Times New Roman" pitchFamily="18" charset="0"/>
              </a:rPr>
              <a:t>Definirea pieței </a:t>
            </a:r>
          </a:p>
        </p:txBody>
      </p:sp>
      <p:sp>
        <p:nvSpPr>
          <p:cNvPr id="3" name="Content Placeholder 2"/>
          <p:cNvSpPr>
            <a:spLocks noGrp="1"/>
          </p:cNvSpPr>
          <p:nvPr>
            <p:ph idx="1"/>
          </p:nvPr>
        </p:nvSpPr>
        <p:spPr>
          <a:xfrm>
            <a:off x="457200" y="1600200"/>
            <a:ext cx="8229600" cy="4637112"/>
          </a:xfrm>
        </p:spPr>
        <p:txBody>
          <a:bodyPr>
            <a:normAutofit fontScale="85000" lnSpcReduction="10000"/>
          </a:bodyPr>
          <a:lstStyle/>
          <a:p>
            <a:pPr marL="0" indent="0">
              <a:buNone/>
            </a:pPr>
            <a:r>
              <a:rPr lang="ro-RO" u="sng" dirty="0" smtClean="0">
                <a:latin typeface="Times New Roman" pitchFamily="18" charset="0"/>
                <a:cs typeface="Times New Roman" pitchFamily="18" charset="0"/>
              </a:rPr>
              <a:t>Consumatorii:</a:t>
            </a:r>
          </a:p>
          <a:p>
            <a:pPr marL="0" indent="0">
              <a:buNone/>
            </a:pPr>
            <a:r>
              <a:rPr lang="vi-VN" dirty="0"/>
              <a:t> </a:t>
            </a:r>
            <a:r>
              <a:rPr lang="ro-RO" sz="2600" dirty="0" smtClean="0"/>
              <a:t>      </a:t>
            </a:r>
            <a:r>
              <a:rPr lang="vi-VN" sz="2600" dirty="0" smtClean="0">
                <a:latin typeface="+mj-lt"/>
              </a:rPr>
              <a:t>Carnea </a:t>
            </a:r>
            <a:r>
              <a:rPr lang="vi-VN" sz="2600" dirty="0">
                <a:latin typeface="+mj-lt"/>
              </a:rPr>
              <a:t>de iepure este recomandată tuturor persoanelor, mai ales celor care au anumite afecțiuni sau care trebuie să țină o dietă bazată pe un consum redus de calorii. </a:t>
            </a:r>
          </a:p>
          <a:p>
            <a:pPr marL="0" indent="0">
              <a:buNone/>
            </a:pPr>
            <a:r>
              <a:rPr lang="vi-VN" sz="2600" dirty="0">
                <a:latin typeface="+mj-lt"/>
              </a:rPr>
              <a:t> </a:t>
            </a:r>
            <a:r>
              <a:rPr lang="ro-RO" sz="2600" dirty="0" smtClean="0">
                <a:latin typeface="+mj-lt"/>
              </a:rPr>
              <a:t>        </a:t>
            </a:r>
            <a:r>
              <a:rPr lang="vi-VN" sz="2600" dirty="0" smtClean="0">
                <a:latin typeface="+mj-lt"/>
              </a:rPr>
              <a:t>Prețul </a:t>
            </a:r>
            <a:r>
              <a:rPr lang="vi-VN" sz="2600" dirty="0">
                <a:latin typeface="+mj-lt"/>
              </a:rPr>
              <a:t>este relativ ridicat, dar dacă analizăm prețurile și la celelalte sortimente de carne, diferența nu este foarte mare sau inaccesibilă pentru majoritatea oamenilor, mai ales că, un consum regulat al acestui tip de carne este recomandat de majoritatea nutriționiștilor. </a:t>
            </a:r>
            <a:endParaRPr lang="ro-RO" sz="2600" dirty="0" smtClean="0">
              <a:latin typeface="+mj-lt"/>
            </a:endParaRPr>
          </a:p>
          <a:p>
            <a:pPr marL="0" indent="0">
              <a:buNone/>
            </a:pPr>
            <a:r>
              <a:rPr lang="ro-RO" sz="3300" u="sng" dirty="0">
                <a:latin typeface="Times New Roman" pitchFamily="18" charset="0"/>
                <a:cs typeface="Times New Roman" pitchFamily="18" charset="0"/>
              </a:rPr>
              <a:t>Concurența</a:t>
            </a:r>
            <a:r>
              <a:rPr lang="ro-RO" sz="3300" u="sng" dirty="0" smtClean="0">
                <a:latin typeface="Times New Roman" pitchFamily="18" charset="0"/>
                <a:cs typeface="Times New Roman" pitchFamily="18" charset="0"/>
              </a:rPr>
              <a:t>:</a:t>
            </a:r>
            <a:endParaRPr lang="vi-VN" sz="2600" dirty="0">
              <a:latin typeface="+mj-lt"/>
            </a:endParaRPr>
          </a:p>
          <a:p>
            <a:pPr marL="0" indent="0">
              <a:buNone/>
            </a:pPr>
            <a:r>
              <a:rPr lang="vi-VN" dirty="0"/>
              <a:t>  </a:t>
            </a:r>
            <a:r>
              <a:rPr lang="ro-RO" dirty="0" smtClean="0"/>
              <a:t>      </a:t>
            </a:r>
            <a:r>
              <a:rPr lang="ro-RO" sz="2600" dirty="0" smtClean="0">
                <a:latin typeface="+mj-lt"/>
              </a:rPr>
              <a:t>I</a:t>
            </a:r>
            <a:r>
              <a:rPr lang="vi-VN" sz="2600" dirty="0" smtClean="0">
                <a:latin typeface="+mj-lt"/>
              </a:rPr>
              <a:t>n </a:t>
            </a:r>
            <a:r>
              <a:rPr lang="vi-VN" sz="2600" dirty="0">
                <a:latin typeface="+mj-lt"/>
              </a:rPr>
              <a:t>urma analizei pieții nu am găsit mulți concurenți direcți pentru noi, din punct de vedere al efectivului de iepuri produs, iar în zona noastră, avem concurentă zero pentru acest tip de activitate. </a:t>
            </a:r>
            <a:endParaRPr lang="ro-RO" sz="2600" u="sng" dirty="0">
              <a:latin typeface="+mj-lt"/>
              <a:cs typeface="Times New Roman" pitchFamily="18" charset="0"/>
            </a:endParaRPr>
          </a:p>
        </p:txBody>
      </p:sp>
    </p:spTree>
    <p:extLst>
      <p:ext uri="{BB962C8B-B14F-4D97-AF65-F5344CB8AC3E}">
        <p14:creationId xmlns:p14="http://schemas.microsoft.com/office/powerpoint/2010/main" val="61677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b="1" dirty="0" smtClean="0">
                <a:latin typeface="Times New Roman" pitchFamily="18" charset="0"/>
                <a:cs typeface="Times New Roman" pitchFamily="18" charset="0"/>
              </a:rPr>
              <a:t>Descrierea </a:t>
            </a:r>
            <a:r>
              <a:rPr lang="ro-RO" b="1" dirty="0">
                <a:latin typeface="Times New Roman" pitchFamily="18" charset="0"/>
                <a:cs typeface="Times New Roman" pitchFamily="18" charset="0"/>
              </a:rPr>
              <a:t>produselor și a serviciilor</a:t>
            </a:r>
            <a:br>
              <a:rPr lang="ro-RO" b="1" dirty="0">
                <a:latin typeface="Times New Roman" pitchFamily="18" charset="0"/>
                <a:cs typeface="Times New Roman" pitchFamily="18" charset="0"/>
              </a:rPr>
            </a:br>
            <a:endParaRPr lang="ro-RO" dirty="0"/>
          </a:p>
        </p:txBody>
      </p:sp>
      <p:sp>
        <p:nvSpPr>
          <p:cNvPr id="3" name="Content Placeholder 2"/>
          <p:cNvSpPr>
            <a:spLocks noGrp="1"/>
          </p:cNvSpPr>
          <p:nvPr>
            <p:ph idx="1"/>
          </p:nvPr>
        </p:nvSpPr>
        <p:spPr>
          <a:xfrm>
            <a:off x="251520" y="908720"/>
            <a:ext cx="8640960" cy="5949280"/>
          </a:xfrm>
        </p:spPr>
        <p:txBody>
          <a:bodyPr>
            <a:normAutofit fontScale="92500" lnSpcReduction="10000"/>
          </a:bodyPr>
          <a:lstStyle/>
          <a:p>
            <a:pPr marL="0" indent="0">
              <a:buNone/>
            </a:pPr>
            <a:r>
              <a:rPr lang="ro-RO" sz="3000" u="sng" dirty="0" smtClean="0">
                <a:latin typeface="Times New Roman" pitchFamily="18" charset="0"/>
                <a:cs typeface="Times New Roman" pitchFamily="18" charset="0"/>
              </a:rPr>
              <a:t>Produsul oferit</a:t>
            </a:r>
            <a:r>
              <a:rPr lang="ro-RO" sz="3000" dirty="0" smtClean="0">
                <a:latin typeface="Times New Roman" pitchFamily="18" charset="0"/>
                <a:cs typeface="Times New Roman" pitchFamily="18" charset="0"/>
              </a:rPr>
              <a:t>:carnea de iepure;</a:t>
            </a:r>
          </a:p>
          <a:p>
            <a:pPr marL="0" indent="0">
              <a:buNone/>
            </a:pPr>
            <a:r>
              <a:rPr lang="ro-RO" sz="3000" u="sng" dirty="0" smtClean="0">
                <a:latin typeface="Times New Roman" pitchFamily="18" charset="0"/>
                <a:cs typeface="Times New Roman" pitchFamily="18" charset="0"/>
              </a:rPr>
              <a:t>Caracteristici si beneficii:</a:t>
            </a:r>
          </a:p>
          <a:p>
            <a:r>
              <a:rPr lang="vi-VN" sz="3400" dirty="0">
                <a:latin typeface="+mj-lt"/>
              </a:rPr>
              <a:t> </a:t>
            </a:r>
            <a:r>
              <a:rPr lang="vi-VN" sz="2300" dirty="0">
                <a:latin typeface="+mj-lt"/>
              </a:rPr>
              <a:t>Carnea de iepure este ideală pentru diete speciale, pentru bolile de inimă, pentru dietele specifice vârstnicilor, dietă cu sodiu puțin, dietă pentru slăbire, etc. </a:t>
            </a:r>
            <a:endParaRPr lang="ro-RO" sz="2300" dirty="0" smtClean="0">
              <a:latin typeface="+mj-lt"/>
            </a:endParaRPr>
          </a:p>
          <a:p>
            <a:r>
              <a:rPr lang="ro-RO" sz="2300" dirty="0" smtClean="0">
                <a:latin typeface="+mj-lt"/>
                <a:cs typeface="Times New Roman" pitchFamily="18" charset="0"/>
              </a:rPr>
              <a:t>C</a:t>
            </a:r>
            <a:r>
              <a:rPr lang="it-IT" sz="2300" dirty="0" smtClean="0">
                <a:latin typeface="+mj-lt"/>
                <a:cs typeface="Times New Roman" pitchFamily="18" charset="0"/>
              </a:rPr>
              <a:t>arnea </a:t>
            </a:r>
            <a:r>
              <a:rPr lang="it-IT" sz="2300" dirty="0">
                <a:latin typeface="+mj-lt"/>
                <a:cs typeface="Times New Roman" pitchFamily="18" charset="0"/>
              </a:rPr>
              <a:t>de iepure are cele mai puține calorii</a:t>
            </a:r>
            <a:r>
              <a:rPr lang="ro-RO" sz="2300" dirty="0" smtClean="0">
                <a:latin typeface="+mj-lt"/>
                <a:cs typeface="Times New Roman" pitchFamily="18" charset="0"/>
              </a:rPr>
              <a:t>;</a:t>
            </a:r>
          </a:p>
          <a:p>
            <a:r>
              <a:rPr lang="vi-VN" sz="2300" dirty="0">
                <a:latin typeface="+mj-lt"/>
              </a:rPr>
              <a:t>Carnea de iepure este ferită până în acest moment de bolile care afectează celelalte animale a căror carne este consumată în mod curent. </a:t>
            </a:r>
          </a:p>
          <a:p>
            <a:r>
              <a:rPr lang="vi-VN" sz="2300" dirty="0">
                <a:latin typeface="+mj-lt"/>
              </a:rPr>
              <a:t> </a:t>
            </a:r>
            <a:r>
              <a:rPr lang="it-IT" sz="2300" dirty="0">
                <a:latin typeface="+mj-lt"/>
                <a:cs typeface="Times New Roman" pitchFamily="18" charset="0"/>
              </a:rPr>
              <a:t>Carnea de iepure poate fi folosită și la fabricarea mezelurilor de calitate superioară. </a:t>
            </a:r>
            <a:endParaRPr lang="ro-RO" sz="2300" dirty="0" smtClean="0">
              <a:latin typeface="+mj-lt"/>
              <a:cs typeface="Times New Roman" pitchFamily="18" charset="0"/>
            </a:endParaRPr>
          </a:p>
          <a:p>
            <a:r>
              <a:rPr lang="vi-VN" sz="2300" dirty="0">
                <a:latin typeface="+mj-lt"/>
              </a:rPr>
              <a:t>Organismul omului asimilează din carnea de iepure de </a:t>
            </a:r>
            <a:r>
              <a:rPr lang="vi-VN" sz="2300" dirty="0" smtClean="0">
                <a:latin typeface="+mj-lt"/>
              </a:rPr>
              <a:t>casă</a:t>
            </a:r>
            <a:r>
              <a:rPr lang="ro-RO" sz="2300" dirty="0" smtClean="0">
                <a:latin typeface="+mj-lt"/>
              </a:rPr>
              <a:t> </a:t>
            </a:r>
            <a:r>
              <a:rPr lang="vi-VN" sz="2300" dirty="0" smtClean="0">
                <a:latin typeface="+mj-lt"/>
              </a:rPr>
              <a:t> </a:t>
            </a:r>
            <a:r>
              <a:rPr lang="vi-VN" sz="2300" dirty="0">
                <a:latin typeface="+mj-lt"/>
              </a:rPr>
              <a:t>90% proteine </a:t>
            </a:r>
            <a:r>
              <a:rPr lang="vi-VN" sz="2300" dirty="0" smtClean="0">
                <a:latin typeface="+mj-lt"/>
              </a:rPr>
              <a:t>.</a:t>
            </a:r>
            <a:endParaRPr lang="ro-RO" sz="2300" dirty="0" smtClean="0">
              <a:latin typeface="+mj-lt"/>
            </a:endParaRPr>
          </a:p>
          <a:p>
            <a:r>
              <a:rPr lang="ro-RO" sz="2300" dirty="0">
                <a:latin typeface="+mj-lt"/>
                <a:cs typeface="Times New Roman" pitchFamily="18" charset="0"/>
              </a:rPr>
              <a:t>C</a:t>
            </a:r>
            <a:r>
              <a:rPr lang="it-IT" sz="2300" dirty="0">
                <a:latin typeface="+mj-lt"/>
                <a:cs typeface="Times New Roman" pitchFamily="18" charset="0"/>
              </a:rPr>
              <a:t>arnea de iepure </a:t>
            </a:r>
            <a:r>
              <a:rPr lang="it-IT" sz="2300" dirty="0" smtClean="0">
                <a:latin typeface="+mj-lt"/>
                <a:cs typeface="Times New Roman" pitchFamily="18" charset="0"/>
              </a:rPr>
              <a:t>are </a:t>
            </a:r>
            <a:r>
              <a:rPr lang="es-ES" sz="2300" dirty="0" smtClean="0">
                <a:latin typeface="+mj-lt"/>
                <a:cs typeface="Times New Roman" pitchFamily="18" charset="0"/>
              </a:rPr>
              <a:t>un nivel </a:t>
            </a:r>
            <a:r>
              <a:rPr lang="es-ES" sz="2300" dirty="0" err="1" smtClean="0">
                <a:latin typeface="+mj-lt"/>
                <a:cs typeface="Times New Roman" pitchFamily="18" charset="0"/>
              </a:rPr>
              <a:t>scăzut</a:t>
            </a:r>
            <a:r>
              <a:rPr lang="es-ES" sz="2300" dirty="0" smtClean="0">
                <a:latin typeface="+mj-lt"/>
                <a:cs typeface="Times New Roman" pitchFamily="18" charset="0"/>
              </a:rPr>
              <a:t> de colesterol; </a:t>
            </a:r>
            <a:endParaRPr lang="ro-RO" sz="2300" dirty="0" smtClean="0">
              <a:latin typeface="+mj-lt"/>
              <a:cs typeface="Times New Roman" pitchFamily="18" charset="0"/>
            </a:endParaRPr>
          </a:p>
          <a:p>
            <a:r>
              <a:rPr lang="vi-VN" sz="2300" dirty="0" smtClean="0">
                <a:latin typeface="+mj-lt"/>
                <a:cs typeface="Times New Roman" pitchFamily="18" charset="0"/>
              </a:rPr>
              <a:t>La </a:t>
            </a:r>
            <a:r>
              <a:rPr lang="vi-VN" sz="2300" dirty="0">
                <a:latin typeface="+mj-lt"/>
                <a:cs typeface="Times New Roman" pitchFamily="18" charset="0"/>
              </a:rPr>
              <a:t>un interval de temperatură cuprins între zero și patru grade, carnea de iepure poate fi păstrată fără probleme timp de patru zile. </a:t>
            </a:r>
            <a:endParaRPr lang="ro-RO" sz="2300" dirty="0" smtClean="0">
              <a:latin typeface="+mj-lt"/>
              <a:cs typeface="Times New Roman" pitchFamily="18" charset="0"/>
            </a:endParaRPr>
          </a:p>
          <a:p>
            <a:r>
              <a:rPr lang="ro-RO" sz="2300" dirty="0" smtClean="0">
                <a:latin typeface="+mj-lt"/>
                <a:cs typeface="Times New Roman" pitchFamily="18" charset="0"/>
              </a:rPr>
              <a:t>   </a:t>
            </a:r>
            <a:r>
              <a:rPr lang="vi-VN" sz="2300" dirty="0" smtClean="0">
                <a:latin typeface="+mj-lt"/>
                <a:cs typeface="Times New Roman" pitchFamily="18" charset="0"/>
              </a:rPr>
              <a:t>Ţinând </a:t>
            </a:r>
            <a:r>
              <a:rPr lang="vi-VN" sz="2300" dirty="0">
                <a:latin typeface="+mj-lt"/>
                <a:cs typeface="Times New Roman" pitchFamily="18" charset="0"/>
              </a:rPr>
              <a:t>cont de caracterul relativ limitat al regăsirii produsului pe piața din România am stabilit pragul minim al prețului de comercializare la suma de 25 lei/kg iepure </a:t>
            </a:r>
            <a:r>
              <a:rPr lang="vi-VN" sz="2300" dirty="0" smtClean="0">
                <a:latin typeface="+mj-lt"/>
                <a:cs typeface="Times New Roman" pitchFamily="18" charset="0"/>
              </a:rPr>
              <a:t>viu</a:t>
            </a:r>
            <a:r>
              <a:rPr lang="vi-VN" sz="2300" dirty="0">
                <a:cs typeface="Times New Roman" pitchFamily="18" charset="0"/>
              </a:rPr>
              <a:t> și</a:t>
            </a:r>
            <a:r>
              <a:rPr lang="ro-RO" sz="2300" dirty="0" smtClean="0">
                <a:latin typeface="+mj-lt"/>
                <a:cs typeface="Times New Roman" pitchFamily="18" charset="0"/>
              </a:rPr>
              <a:t> </a:t>
            </a:r>
            <a:r>
              <a:rPr lang="ro-RO" sz="2300" dirty="0" smtClean="0">
                <a:latin typeface="+mj-lt"/>
                <a:cs typeface="Times New Roman" pitchFamily="18" charset="0"/>
              </a:rPr>
              <a:t>10 lei/kg carne iepure</a:t>
            </a:r>
            <a:r>
              <a:rPr lang="vi-VN" sz="2300" dirty="0" smtClean="0">
                <a:latin typeface="+mj-lt"/>
                <a:cs typeface="Times New Roman" pitchFamily="18" charset="0"/>
              </a:rPr>
              <a:t>.</a:t>
            </a:r>
            <a:r>
              <a:rPr lang="vi-VN" sz="2300" dirty="0">
                <a:latin typeface="+mj-lt"/>
                <a:cs typeface="Times New Roman" pitchFamily="18" charset="0"/>
              </a:rPr>
              <a:t>  </a:t>
            </a:r>
            <a:endParaRPr lang="ro-RO" sz="2300" u="sng" dirty="0" smtClean="0">
              <a:latin typeface="+mj-lt"/>
              <a:cs typeface="Times New Roman" pitchFamily="18" charset="0"/>
            </a:endParaRPr>
          </a:p>
        </p:txBody>
      </p:sp>
    </p:spTree>
    <p:extLst>
      <p:ext uri="{BB962C8B-B14F-4D97-AF65-F5344CB8AC3E}">
        <p14:creationId xmlns:p14="http://schemas.microsoft.com/office/powerpoint/2010/main" val="954498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922114"/>
          </a:xfrm>
        </p:spPr>
        <p:txBody>
          <a:bodyPr>
            <a:normAutofit fontScale="90000"/>
          </a:bodyPr>
          <a:lstStyle/>
          <a:p>
            <a:r>
              <a:rPr lang="ro-RO" b="1" dirty="0" smtClean="0">
                <a:latin typeface="Times New Roman" pitchFamily="18" charset="0"/>
                <a:cs typeface="Times New Roman" pitchFamily="18" charset="0"/>
              </a:rPr>
              <a:t>Planul </a:t>
            </a:r>
            <a:r>
              <a:rPr lang="ro-RO" b="1" dirty="0">
                <a:latin typeface="Times New Roman" pitchFamily="18" charset="0"/>
                <a:cs typeface="Times New Roman" pitchFamily="18" charset="0"/>
              </a:rPr>
              <a:t>de marketing</a:t>
            </a:r>
            <a:br>
              <a:rPr lang="ro-RO" b="1" dirty="0">
                <a:latin typeface="Times New Roman" pitchFamily="18" charset="0"/>
                <a:cs typeface="Times New Roman" pitchFamily="18" charset="0"/>
              </a:rPr>
            </a:br>
            <a:endParaRPr lang="ro-RO" dirty="0"/>
          </a:p>
        </p:txBody>
      </p:sp>
      <p:sp>
        <p:nvSpPr>
          <p:cNvPr id="3" name="Content Placeholder 2"/>
          <p:cNvSpPr>
            <a:spLocks noGrp="1"/>
          </p:cNvSpPr>
          <p:nvPr>
            <p:ph idx="1"/>
          </p:nvPr>
        </p:nvSpPr>
        <p:spPr>
          <a:xfrm>
            <a:off x="251520" y="1268760"/>
            <a:ext cx="8712968" cy="5112568"/>
          </a:xfrm>
        </p:spPr>
        <p:txBody>
          <a:bodyPr>
            <a:normAutofit lnSpcReduction="10000"/>
          </a:bodyPr>
          <a:lstStyle/>
          <a:p>
            <a:pPr marL="0" indent="0">
              <a:buNone/>
            </a:pPr>
            <a:r>
              <a:rPr lang="ro-RO" sz="2000" dirty="0">
                <a:latin typeface="Times New Roman" pitchFamily="18" charset="0"/>
                <a:cs typeface="Times New Roman" pitchFamily="18" charset="0"/>
              </a:rPr>
              <a:t/>
            </a:r>
            <a:br>
              <a:rPr lang="ro-RO" sz="2000" dirty="0">
                <a:latin typeface="Times New Roman" pitchFamily="18" charset="0"/>
                <a:cs typeface="Times New Roman" pitchFamily="18" charset="0"/>
              </a:rPr>
            </a:br>
            <a:r>
              <a:rPr lang="ro-RO" sz="2600" dirty="0" smtClean="0">
                <a:latin typeface="Times New Roman" pitchFamily="18" charset="0"/>
                <a:cs typeface="Times New Roman" pitchFamily="18" charset="0"/>
              </a:rPr>
              <a:t>      </a:t>
            </a:r>
            <a:r>
              <a:rPr lang="vi-VN" sz="2600" dirty="0">
                <a:latin typeface="Times New Roman" pitchFamily="18" charset="0"/>
                <a:cs typeface="Times New Roman" pitchFamily="18" charset="0"/>
              </a:rPr>
              <a:t>Din punct de vedere al </a:t>
            </a:r>
            <a:r>
              <a:rPr lang="vi-VN" sz="2600" dirty="0" smtClean="0">
                <a:latin typeface="Times New Roman" pitchFamily="18" charset="0"/>
                <a:cs typeface="Times New Roman" pitchFamily="18" charset="0"/>
              </a:rPr>
              <a:t>promovării,am </a:t>
            </a:r>
            <a:r>
              <a:rPr lang="vi-VN" sz="2600" dirty="0">
                <a:latin typeface="Times New Roman" pitchFamily="18" charset="0"/>
                <a:cs typeface="Times New Roman" pitchFamily="18" charset="0"/>
              </a:rPr>
              <a:t>ales să aplicăm metoda contactării directe </a:t>
            </a:r>
            <a:r>
              <a:rPr lang="vi-VN" sz="2600" dirty="0" smtClean="0">
                <a:latin typeface="Times New Roman" pitchFamily="18" charset="0"/>
                <a:cs typeface="Times New Roman" pitchFamily="18" charset="0"/>
              </a:rPr>
              <a:t>a </a:t>
            </a:r>
            <a:r>
              <a:rPr lang="vi-VN" sz="2600" dirty="0">
                <a:latin typeface="Times New Roman" pitchFamily="18" charset="0"/>
                <a:cs typeface="Times New Roman" pitchFamily="18" charset="0"/>
              </a:rPr>
              <a:t>celor mai apropiate abatoare din țară, a marilor centre comerciale și a atragerii de posibili clienți de pe piața externă</a:t>
            </a:r>
            <a:r>
              <a:rPr lang="vi-VN" sz="2600" dirty="0" smtClean="0">
                <a:latin typeface="Times New Roman" pitchFamily="18" charset="0"/>
                <a:cs typeface="Times New Roman" pitchFamily="18" charset="0"/>
              </a:rPr>
              <a:t>.(</a:t>
            </a:r>
            <a:r>
              <a:rPr lang="vi-VN" sz="2600" dirty="0">
                <a:latin typeface="Times New Roman" pitchFamily="18" charset="0"/>
                <a:cs typeface="Times New Roman" pitchFamily="18" charset="0"/>
              </a:rPr>
              <a:t>Pentru piața externă vom </a:t>
            </a:r>
            <a:r>
              <a:rPr lang="vi-VN" sz="2600" dirty="0" smtClean="0">
                <a:latin typeface="Times New Roman" pitchFamily="18" charset="0"/>
                <a:cs typeface="Times New Roman" pitchFamily="18" charset="0"/>
              </a:rPr>
              <a:t>folosi</a:t>
            </a:r>
            <a:r>
              <a:rPr lang="ro-RO" sz="2600" dirty="0" smtClean="0">
                <a:latin typeface="Times New Roman" pitchFamily="18" charset="0"/>
                <a:cs typeface="Times New Roman" pitchFamily="18" charset="0"/>
              </a:rPr>
              <a:t>i</a:t>
            </a:r>
            <a:r>
              <a:rPr lang="vi-VN" sz="2600" dirty="0" smtClean="0">
                <a:latin typeface="Times New Roman" pitchFamily="18" charset="0"/>
                <a:cs typeface="Times New Roman" pitchFamily="18" charset="0"/>
              </a:rPr>
              <a:t> site</a:t>
            </a:r>
            <a:r>
              <a:rPr lang="ro-RO" sz="2600" dirty="0" smtClean="0">
                <a:latin typeface="Times New Roman" pitchFamily="18" charset="0"/>
                <a:cs typeface="Times New Roman" pitchFamily="18" charset="0"/>
              </a:rPr>
              <a:t>-</a:t>
            </a:r>
            <a:r>
              <a:rPr lang="vi-VN" sz="2600" dirty="0" smtClean="0">
                <a:latin typeface="Times New Roman" pitchFamily="18" charset="0"/>
                <a:cs typeface="Times New Roman" pitchFamily="18" charset="0"/>
              </a:rPr>
              <a:t>ul</a:t>
            </a:r>
            <a:r>
              <a:rPr lang="vi-VN" sz="2600" dirty="0">
                <a:latin typeface="Times New Roman" pitchFamily="18" charset="0"/>
                <a:cs typeface="Times New Roman" pitchFamily="18" charset="0"/>
              </a:rPr>
              <a:t> </a:t>
            </a:r>
            <a:r>
              <a:rPr lang="vi-VN" sz="2600" dirty="0" smtClean="0">
                <a:latin typeface="Times New Roman" pitchFamily="18" charset="0"/>
                <a:cs typeface="Times New Roman" pitchFamily="18" charset="0"/>
              </a:rPr>
              <a:t>www.alibaba.com,</a:t>
            </a:r>
            <a:r>
              <a:rPr lang="ro-RO" sz="2600" dirty="0" smtClean="0">
                <a:latin typeface="Times New Roman" pitchFamily="18" charset="0"/>
                <a:cs typeface="Times New Roman" pitchFamily="18" charset="0"/>
              </a:rPr>
              <a:t> </a:t>
            </a:r>
            <a:r>
              <a:rPr lang="vi-VN" sz="2600" dirty="0" smtClean="0">
                <a:latin typeface="Times New Roman" pitchFamily="18" charset="0"/>
                <a:cs typeface="Times New Roman" pitchFamily="18" charset="0"/>
              </a:rPr>
              <a:t>unde </a:t>
            </a:r>
            <a:r>
              <a:rPr lang="vi-VN" sz="2600" dirty="0">
                <a:latin typeface="Times New Roman" pitchFamily="18" charset="0"/>
                <a:cs typeface="Times New Roman" pitchFamily="18" charset="0"/>
              </a:rPr>
              <a:t>ne vom prezenta întreaga ofertă.). </a:t>
            </a:r>
          </a:p>
          <a:p>
            <a:pPr marL="0" indent="0">
              <a:buNone/>
            </a:pPr>
            <a:r>
              <a:rPr lang="ro-RO" sz="2600" dirty="0" smtClean="0">
                <a:latin typeface="Times New Roman" pitchFamily="18" charset="0"/>
                <a:cs typeface="Times New Roman" pitchFamily="18" charset="0"/>
              </a:rPr>
              <a:t>      V</a:t>
            </a:r>
            <a:r>
              <a:rPr lang="vi-VN" sz="2600" dirty="0" smtClean="0">
                <a:latin typeface="Times New Roman" pitchFamily="18" charset="0"/>
                <a:cs typeface="Times New Roman" pitchFamily="18" charset="0"/>
              </a:rPr>
              <a:t>om</a:t>
            </a:r>
            <a:r>
              <a:rPr lang="vi-VN" sz="2600" dirty="0">
                <a:latin typeface="Times New Roman" pitchFamily="18" charset="0"/>
                <a:cs typeface="Times New Roman" pitchFamily="18" charset="0"/>
              </a:rPr>
              <a:t> crea și un website in 5 limbi de circulație internațională, unde ferma va fi prezentată în întregime. </a:t>
            </a:r>
            <a:endParaRPr lang="ro-RO" sz="2600" dirty="0" smtClean="0">
              <a:latin typeface="Times New Roman" pitchFamily="18" charset="0"/>
              <a:cs typeface="Times New Roman" pitchFamily="18" charset="0"/>
            </a:endParaRPr>
          </a:p>
          <a:p>
            <a:pPr marL="0" indent="0">
              <a:buNone/>
            </a:pPr>
            <a:r>
              <a:rPr lang="ro-RO" sz="2600" dirty="0">
                <a:latin typeface="Times New Roman" pitchFamily="18" charset="0"/>
                <a:cs typeface="Times New Roman" pitchFamily="18" charset="0"/>
              </a:rPr>
              <a:t> </a:t>
            </a:r>
            <a:r>
              <a:rPr lang="ro-RO" sz="2600" dirty="0" smtClean="0">
                <a:latin typeface="Times New Roman" pitchFamily="18" charset="0"/>
                <a:cs typeface="Times New Roman" pitchFamily="18" charset="0"/>
              </a:rPr>
              <a:t>      </a:t>
            </a:r>
            <a:r>
              <a:rPr lang="vi-VN" sz="2600" dirty="0" smtClean="0">
                <a:latin typeface="Times New Roman" pitchFamily="18" charset="0"/>
                <a:cs typeface="Times New Roman" pitchFamily="18" charset="0"/>
              </a:rPr>
              <a:t>De </a:t>
            </a:r>
            <a:r>
              <a:rPr lang="vi-VN" sz="2600" dirty="0">
                <a:latin typeface="Times New Roman" pitchFamily="18" charset="0"/>
                <a:cs typeface="Times New Roman" pitchFamily="18" charset="0"/>
              </a:rPr>
              <a:t>asemenea se va alege o campanie agresivă de tip “postare anunturi” în toate ziarele de anunțuri publicitare, cât și pe toate site-urile mari de anunțuri agricole. în acestea se va trece oferta de carcase de iepuri, cât și prețul pe kg sau în viu.  </a:t>
            </a:r>
          </a:p>
          <a:p>
            <a:pPr marL="0" indent="0">
              <a:buNone/>
            </a:pPr>
            <a:r>
              <a:rPr lang="vi-VN" sz="2000" dirty="0"/>
              <a:t> </a:t>
            </a:r>
            <a:r>
              <a:rPr lang="ro-RO" sz="2000" dirty="0" smtClean="0"/>
              <a:t>      </a:t>
            </a:r>
            <a:endParaRPr lang="ro-RO" sz="2000" dirty="0"/>
          </a:p>
        </p:txBody>
      </p:sp>
    </p:spTree>
    <p:extLst>
      <p:ext uri="{BB962C8B-B14F-4D97-AF65-F5344CB8AC3E}">
        <p14:creationId xmlns:p14="http://schemas.microsoft.com/office/powerpoint/2010/main" val="525611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o-RO" b="1" dirty="0" smtClean="0">
                <a:latin typeface="Times New Roman" pitchFamily="18" charset="0"/>
                <a:cs typeface="Times New Roman" pitchFamily="18" charset="0"/>
              </a:rPr>
              <a:t>Organizarea </a:t>
            </a:r>
            <a:r>
              <a:rPr lang="ro-RO" b="1" dirty="0">
                <a:latin typeface="Times New Roman" pitchFamily="18" charset="0"/>
                <a:cs typeface="Times New Roman" pitchFamily="18" charset="0"/>
              </a:rPr>
              <a:t>și managementul</a:t>
            </a:r>
            <a:br>
              <a:rPr lang="ro-RO" b="1" dirty="0">
                <a:latin typeface="Times New Roman" pitchFamily="18" charset="0"/>
                <a:cs typeface="Times New Roman" pitchFamily="18" charset="0"/>
              </a:rPr>
            </a:br>
            <a:endParaRPr lang="ro-RO" dirty="0"/>
          </a:p>
        </p:txBody>
      </p:sp>
      <p:sp>
        <p:nvSpPr>
          <p:cNvPr id="3" name="Content Placeholder 2"/>
          <p:cNvSpPr>
            <a:spLocks noGrp="1"/>
          </p:cNvSpPr>
          <p:nvPr>
            <p:ph idx="1"/>
          </p:nvPr>
        </p:nvSpPr>
        <p:spPr>
          <a:xfrm>
            <a:off x="457200" y="1196752"/>
            <a:ext cx="8229600" cy="4929411"/>
          </a:xfrm>
        </p:spPr>
        <p:txBody>
          <a:bodyPr>
            <a:normAutofit fontScale="92500" lnSpcReduction="10000"/>
          </a:bodyPr>
          <a:lstStyle/>
          <a:p>
            <a:pPr marL="0" indent="0">
              <a:buNone/>
            </a:pPr>
            <a:r>
              <a:rPr lang="ro-RO" sz="3500" u="sng" dirty="0" smtClean="0">
                <a:latin typeface="Times New Roman" pitchFamily="18" charset="0"/>
                <a:cs typeface="Times New Roman" pitchFamily="18" charset="0"/>
              </a:rPr>
              <a:t>Personalul:</a:t>
            </a:r>
          </a:p>
          <a:p>
            <a:pPr fontAlgn="base">
              <a:buFont typeface="Wingdings" pitchFamily="2" charset="2"/>
              <a:buChar char="§"/>
            </a:pPr>
            <a:r>
              <a:rPr lang="it-IT" sz="2800" dirty="0" smtClean="0">
                <a:latin typeface="Times New Roman" pitchFamily="18" charset="0"/>
                <a:cs typeface="Times New Roman" pitchFamily="18" charset="0"/>
              </a:rPr>
              <a:t>Manager</a:t>
            </a:r>
            <a:r>
              <a:rPr lang="vi-VN" sz="2800" dirty="0">
                <a:latin typeface="Times New Roman" pitchFamily="18" charset="0"/>
                <a:cs typeface="Times New Roman" pitchFamily="18" charset="0"/>
              </a:rPr>
              <a:t>-reprezintă societatea față de autoritatiile de stat, terți și în justiție, efectuează toate actele de administrare și gestionare a societății,  deschide conturi în lei și valută și poate utiliza fondurile financiare ale societății. </a:t>
            </a:r>
            <a:endParaRPr lang="ro-RO" sz="2800" dirty="0" smtClean="0">
              <a:latin typeface="Times New Roman" pitchFamily="18" charset="0"/>
              <a:cs typeface="Times New Roman" pitchFamily="18" charset="0"/>
            </a:endParaRPr>
          </a:p>
          <a:p>
            <a:pPr fontAlgn="base">
              <a:buFont typeface="Wingdings" pitchFamily="2" charset="2"/>
              <a:buChar char="§"/>
            </a:pPr>
            <a:r>
              <a:rPr lang="it-IT" sz="2800" dirty="0" smtClean="0">
                <a:latin typeface="Times New Roman" pitchFamily="18" charset="0"/>
                <a:cs typeface="Times New Roman" pitchFamily="18" charset="0"/>
              </a:rPr>
              <a:t>Contabil</a:t>
            </a:r>
            <a:r>
              <a:rPr lang="ro-RO" sz="2800" dirty="0" smtClean="0">
                <a:latin typeface="Times New Roman" pitchFamily="18" charset="0"/>
                <a:cs typeface="Times New Roman" pitchFamily="18" charset="0"/>
              </a:rPr>
              <a:t>-</a:t>
            </a:r>
            <a:r>
              <a:rPr lang="vi-VN" sz="2800" dirty="0">
                <a:latin typeface="Times New Roman" pitchFamily="18" charset="0"/>
                <a:cs typeface="Times New Roman" pitchFamily="18" charset="0"/>
              </a:rPr>
              <a:t>măsurarea,evaluarea,gestiunea și controlul activelor,datoriilor și capitalului. </a:t>
            </a:r>
            <a:endParaRPr lang="it-IT" sz="2800" dirty="0">
              <a:latin typeface="Times New Roman" pitchFamily="18" charset="0"/>
              <a:cs typeface="Times New Roman" pitchFamily="18" charset="0"/>
            </a:endParaRPr>
          </a:p>
          <a:p>
            <a:pPr fontAlgn="base">
              <a:buFont typeface="Wingdings" pitchFamily="2" charset="2"/>
              <a:buChar char="§"/>
            </a:pPr>
            <a:r>
              <a:rPr lang="it-IT" sz="2800" dirty="0" smtClean="0">
                <a:latin typeface="Times New Roman" pitchFamily="18" charset="0"/>
                <a:cs typeface="Times New Roman" pitchFamily="18" charset="0"/>
              </a:rPr>
              <a:t>2 </a:t>
            </a:r>
            <a:r>
              <a:rPr lang="it-IT" sz="2800" dirty="0">
                <a:latin typeface="Times New Roman" pitchFamily="18" charset="0"/>
                <a:cs typeface="Times New Roman" pitchFamily="18" charset="0"/>
              </a:rPr>
              <a:t>medici </a:t>
            </a:r>
            <a:r>
              <a:rPr lang="it-IT" sz="2800" dirty="0" smtClean="0">
                <a:latin typeface="Times New Roman" pitchFamily="18" charset="0"/>
                <a:cs typeface="Times New Roman" pitchFamily="18" charset="0"/>
              </a:rPr>
              <a:t>veterinari</a:t>
            </a:r>
            <a:r>
              <a:rPr lang="ro-RO" sz="2800" dirty="0" smtClean="0">
                <a:latin typeface="Times New Roman" pitchFamily="18" charset="0"/>
                <a:cs typeface="Times New Roman" pitchFamily="18" charset="0"/>
              </a:rPr>
              <a:t>-</a:t>
            </a:r>
            <a:r>
              <a:rPr lang="vi-VN" sz="2800" dirty="0">
                <a:latin typeface="Times New Roman" pitchFamily="18" charset="0"/>
                <a:cs typeface="Times New Roman" pitchFamily="18" charset="0"/>
              </a:rPr>
              <a:t>lucrează în două schimburi </a:t>
            </a:r>
            <a:r>
              <a:rPr lang="ro-RO" sz="2800" dirty="0" smtClean="0">
                <a:latin typeface="Times New Roman" pitchFamily="18" charset="0"/>
                <a:cs typeface="Times New Roman" pitchFamily="18" charset="0"/>
              </a:rPr>
              <a:t>de 8h/zi </a:t>
            </a:r>
            <a:r>
              <a:rPr lang="vi-VN" sz="2800" dirty="0" smtClean="0">
                <a:latin typeface="Times New Roman" pitchFamily="18" charset="0"/>
                <a:cs typeface="Times New Roman" pitchFamily="18" charset="0"/>
              </a:rPr>
              <a:t>pentru </a:t>
            </a:r>
            <a:r>
              <a:rPr lang="vi-VN" sz="2800" dirty="0">
                <a:latin typeface="Times New Roman" pitchFamily="18" charset="0"/>
                <a:cs typeface="Times New Roman" pitchFamily="18" charset="0"/>
              </a:rPr>
              <a:t>a se putea asigura supravegherea constantă a iepurilor din fermă, evitându-se astfel, eventualele incidente</a:t>
            </a:r>
            <a:r>
              <a:rPr lang="vi-VN" sz="2800" dirty="0" smtClean="0">
                <a:latin typeface="Times New Roman" pitchFamily="18" charset="0"/>
                <a:cs typeface="Times New Roman" pitchFamily="18" charset="0"/>
              </a:rPr>
              <a:t>.</a:t>
            </a:r>
            <a:endParaRPr lang="ro-RO" sz="2800" dirty="0" smtClean="0">
              <a:latin typeface="Times New Roman" pitchFamily="18" charset="0"/>
              <a:cs typeface="Times New Roman" pitchFamily="18" charset="0"/>
            </a:endParaRPr>
          </a:p>
          <a:p>
            <a:pPr fontAlgn="base">
              <a:buFont typeface="Wingdings" pitchFamily="2" charset="2"/>
              <a:buChar char="§"/>
            </a:pPr>
            <a:r>
              <a:rPr lang="it-IT" sz="2800" dirty="0" smtClean="0">
                <a:latin typeface="Times New Roman" pitchFamily="18" charset="0"/>
                <a:cs typeface="Times New Roman" pitchFamily="18" charset="0"/>
              </a:rPr>
              <a:t>10 ingrijitori</a:t>
            </a:r>
            <a:r>
              <a:rPr lang="ro-RO" sz="2800" dirty="0" smtClean="0">
                <a:latin typeface="Times New Roman" pitchFamily="18" charset="0"/>
                <a:cs typeface="Times New Roman" pitchFamily="18" charset="0"/>
              </a:rPr>
              <a:t>-</a:t>
            </a:r>
            <a:r>
              <a:rPr lang="ro-RO" sz="2800" dirty="0">
                <a:latin typeface="Times New Roman" pitchFamily="18" charset="0"/>
                <a:cs typeface="Times New Roman" pitchFamily="18" charset="0"/>
              </a:rPr>
              <a:t> regim normal de </a:t>
            </a:r>
            <a:r>
              <a:rPr lang="ro-RO" sz="2800" dirty="0" smtClean="0">
                <a:latin typeface="Times New Roman" pitchFamily="18" charset="0"/>
                <a:cs typeface="Times New Roman" pitchFamily="18" charset="0"/>
              </a:rPr>
              <a:t>lucru :8 ore/zi.</a:t>
            </a:r>
            <a:endParaRPr lang="it-IT" sz="2800" dirty="0">
              <a:latin typeface="Times New Roman" pitchFamily="18" charset="0"/>
              <a:cs typeface="Times New Roman" pitchFamily="18" charset="0"/>
            </a:endParaRPr>
          </a:p>
          <a:p>
            <a:pPr marL="0" indent="0">
              <a:buNone/>
            </a:pPr>
            <a:endParaRPr lang="ro-RO" sz="2500" u="sng" dirty="0">
              <a:latin typeface="Times New Roman" pitchFamily="18" charset="0"/>
              <a:cs typeface="Times New Roman" pitchFamily="18" charset="0"/>
            </a:endParaRPr>
          </a:p>
        </p:txBody>
      </p:sp>
    </p:spTree>
    <p:extLst>
      <p:ext uri="{BB962C8B-B14F-4D97-AF65-F5344CB8AC3E}">
        <p14:creationId xmlns:p14="http://schemas.microsoft.com/office/powerpoint/2010/main" val="3672345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latin typeface="Times New Roman" pitchFamily="18" charset="0"/>
                <a:cs typeface="Times New Roman" pitchFamily="18" charset="0"/>
              </a:rPr>
              <a:t>Organizarea și managementul</a:t>
            </a:r>
            <a:endParaRPr lang="ro-RO" dirty="0"/>
          </a:p>
        </p:txBody>
      </p:sp>
      <p:sp>
        <p:nvSpPr>
          <p:cNvPr id="3" name="Content Placeholder 2"/>
          <p:cNvSpPr>
            <a:spLocks noGrp="1"/>
          </p:cNvSpPr>
          <p:nvPr>
            <p:ph idx="1"/>
          </p:nvPr>
        </p:nvSpPr>
        <p:spPr/>
        <p:txBody>
          <a:bodyPr>
            <a:normAutofit lnSpcReduction="10000"/>
          </a:bodyPr>
          <a:lstStyle/>
          <a:p>
            <a:pPr marL="0" indent="0">
              <a:buNone/>
            </a:pPr>
            <a:r>
              <a:rPr lang="ro-RO" u="sng" dirty="0" smtClean="0">
                <a:latin typeface="Times New Roman" pitchFamily="18" charset="0"/>
                <a:cs typeface="Times New Roman" pitchFamily="18" charset="0"/>
              </a:rPr>
              <a:t>Locația:</a:t>
            </a:r>
          </a:p>
          <a:p>
            <a:pPr marL="0" indent="0">
              <a:buNone/>
            </a:pPr>
            <a:r>
              <a:rPr lang="ro-RO" sz="2400" dirty="0" smtClean="0">
                <a:latin typeface="Times New Roman" pitchFamily="18" charset="0"/>
                <a:cs typeface="Times New Roman" pitchFamily="18" charset="0"/>
              </a:rPr>
              <a:t>      </a:t>
            </a:r>
            <a:r>
              <a:rPr lang="ro-RO" sz="2600" dirty="0" smtClean="0">
                <a:latin typeface="Times New Roman" pitchFamily="18" charset="0"/>
                <a:cs typeface="Times New Roman" pitchFamily="18" charset="0"/>
              </a:rPr>
              <a:t>  </a:t>
            </a:r>
            <a:r>
              <a:rPr lang="vi-VN" sz="2600" dirty="0">
                <a:latin typeface="Times New Roman" pitchFamily="18" charset="0"/>
                <a:cs typeface="Times New Roman" pitchFamily="18" charset="0"/>
              </a:rPr>
              <a:t> Ferma va fi construită pe un teren din apropierea comunei Cudalbi din județul Galați.  </a:t>
            </a:r>
            <a:r>
              <a:rPr lang="vi-VN" sz="2600" dirty="0" smtClean="0">
                <a:latin typeface="Times New Roman" pitchFamily="18" charset="0"/>
                <a:cs typeface="Times New Roman" pitchFamily="18" charset="0"/>
              </a:rPr>
              <a:t>Suprafața </a:t>
            </a:r>
            <a:r>
              <a:rPr lang="vi-VN" sz="2600" dirty="0">
                <a:latin typeface="Times New Roman" pitchFamily="18" charset="0"/>
                <a:cs typeface="Times New Roman" pitchFamily="18" charset="0"/>
              </a:rPr>
              <a:t>totală a fermei este de 3.000 metri pătrați. </a:t>
            </a:r>
            <a:endParaRPr lang="ro-RO" sz="2600" dirty="0" smtClean="0">
              <a:latin typeface="Times New Roman" pitchFamily="18" charset="0"/>
              <a:cs typeface="Times New Roman" pitchFamily="18" charset="0"/>
            </a:endParaRPr>
          </a:p>
          <a:p>
            <a:pPr marL="0" indent="0">
              <a:buNone/>
            </a:pPr>
            <a:r>
              <a:rPr lang="ro-RO" sz="2600" dirty="0">
                <a:latin typeface="Times New Roman" pitchFamily="18" charset="0"/>
                <a:cs typeface="Times New Roman" pitchFamily="18" charset="0"/>
              </a:rPr>
              <a:t> </a:t>
            </a:r>
            <a:r>
              <a:rPr lang="ro-RO" sz="2600" dirty="0" smtClean="0">
                <a:latin typeface="Times New Roman" pitchFamily="18" charset="0"/>
                <a:cs typeface="Times New Roman" pitchFamily="18" charset="0"/>
              </a:rPr>
              <a:t>        </a:t>
            </a:r>
            <a:r>
              <a:rPr lang="vi-VN" sz="2600" dirty="0" smtClean="0">
                <a:latin typeface="Times New Roman" pitchFamily="18" charset="0"/>
                <a:cs typeface="Times New Roman" pitchFamily="18" charset="0"/>
              </a:rPr>
              <a:t>Construcția </a:t>
            </a:r>
            <a:r>
              <a:rPr lang="vi-VN" sz="2600" dirty="0">
                <a:latin typeface="Times New Roman" pitchFamily="18" charset="0"/>
                <a:cs typeface="Times New Roman" pitchFamily="18" charset="0"/>
              </a:rPr>
              <a:t>fermei va respecta toate normele în vigoare</a:t>
            </a:r>
            <a:r>
              <a:rPr lang="vi-VN" sz="2600" dirty="0" smtClean="0">
                <a:latin typeface="Times New Roman" pitchFamily="18" charset="0"/>
                <a:cs typeface="Times New Roman" pitchFamily="18" charset="0"/>
              </a:rPr>
              <a:t>.</a:t>
            </a:r>
            <a:r>
              <a:rPr lang="ro-RO" sz="2600" dirty="0" smtClean="0">
                <a:latin typeface="Times New Roman" pitchFamily="18" charset="0"/>
                <a:cs typeface="Times New Roman" pitchFamily="18" charset="0"/>
              </a:rPr>
              <a:t> </a:t>
            </a:r>
            <a:r>
              <a:rPr lang="vi-VN" sz="2600" dirty="0" smtClean="0">
                <a:latin typeface="Times New Roman" pitchFamily="18" charset="0"/>
                <a:cs typeface="Times New Roman" pitchFamily="18" charset="0"/>
              </a:rPr>
              <a:t>Racordarea </a:t>
            </a:r>
            <a:r>
              <a:rPr lang="vi-VN" sz="2600" dirty="0">
                <a:latin typeface="Times New Roman" pitchFamily="18" charset="0"/>
                <a:cs typeface="Times New Roman" pitchFamily="18" charset="0"/>
              </a:rPr>
              <a:t>la utilități precum electricitate și apă curentă se va face foarte ușor deoarece în zonă există atât rețea de apă, cât și stâlpi de curent, la care ne vom racorda. </a:t>
            </a:r>
            <a:endParaRPr lang="ro-RO" sz="2600" dirty="0" smtClean="0">
              <a:latin typeface="Times New Roman" pitchFamily="18" charset="0"/>
              <a:cs typeface="Times New Roman" pitchFamily="18" charset="0"/>
            </a:endParaRPr>
          </a:p>
          <a:p>
            <a:pPr marL="0" indent="0">
              <a:buNone/>
            </a:pPr>
            <a:r>
              <a:rPr lang="ro-RO" sz="2600" dirty="0" smtClean="0">
                <a:latin typeface="Times New Roman" pitchFamily="18" charset="0"/>
                <a:cs typeface="Times New Roman" pitchFamily="18" charset="0"/>
              </a:rPr>
              <a:t>         </a:t>
            </a:r>
            <a:r>
              <a:rPr lang="vi-VN" sz="2600" dirty="0" smtClean="0">
                <a:latin typeface="Times New Roman" pitchFamily="18" charset="0"/>
                <a:cs typeface="Times New Roman" pitchFamily="18" charset="0"/>
              </a:rPr>
              <a:t>în </a:t>
            </a:r>
            <a:r>
              <a:rPr lang="vi-VN" sz="2600" dirty="0">
                <a:latin typeface="Times New Roman" pitchFamily="18" charset="0"/>
                <a:cs typeface="Times New Roman" pitchFamily="18" charset="0"/>
              </a:rPr>
              <a:t>fermă trebuiesc asigurate, de asemenea, condiții optime prind ventilația aerului și temperatura optimă, pentru buna dezvoltare a efectivului de iepuri.</a:t>
            </a:r>
            <a:endParaRPr lang="ro-RO" sz="2600" dirty="0">
              <a:latin typeface="Times New Roman" pitchFamily="18" charset="0"/>
              <a:cs typeface="Times New Roman" pitchFamily="18" charset="0"/>
            </a:endParaRPr>
          </a:p>
        </p:txBody>
      </p:sp>
    </p:spTree>
    <p:extLst>
      <p:ext uri="{BB962C8B-B14F-4D97-AF65-F5344CB8AC3E}">
        <p14:creationId xmlns:p14="http://schemas.microsoft.com/office/powerpoint/2010/main" val="4160895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ro-RO" b="1" dirty="0">
                <a:latin typeface="Times New Roman" pitchFamily="18" charset="0"/>
                <a:cs typeface="Times New Roman" pitchFamily="18" charset="0"/>
              </a:rPr>
              <a:t>Situația  economico-</a:t>
            </a:r>
            <a:r>
              <a:rPr lang="vi-VN" b="1" dirty="0">
                <a:latin typeface="Times New Roman" pitchFamily="18" charset="0"/>
                <a:cs typeface="Times New Roman" pitchFamily="18" charset="0"/>
              </a:rPr>
              <a:t>financiară </a:t>
            </a:r>
            <a:r>
              <a:rPr lang="ro-RO" b="1" dirty="0">
                <a:latin typeface="Times New Roman" pitchFamily="18" charset="0"/>
                <a:cs typeface="Times New Roman" pitchFamily="18" charset="0"/>
              </a:rPr>
              <a:t/>
            </a:r>
            <a:br>
              <a:rPr lang="ro-RO" b="1" dirty="0">
                <a:latin typeface="Times New Roman" pitchFamily="18" charset="0"/>
                <a:cs typeface="Times New Roman" pitchFamily="18" charset="0"/>
              </a:rPr>
            </a:br>
            <a:endParaRPr lang="ro-RO" dirty="0"/>
          </a:p>
        </p:txBody>
      </p:sp>
      <p:sp>
        <p:nvSpPr>
          <p:cNvPr id="3" name="Content Placeholder 2"/>
          <p:cNvSpPr>
            <a:spLocks noGrp="1"/>
          </p:cNvSpPr>
          <p:nvPr>
            <p:ph idx="1"/>
          </p:nvPr>
        </p:nvSpPr>
        <p:spPr>
          <a:xfrm>
            <a:off x="457200" y="836712"/>
            <a:ext cx="8229600" cy="5832648"/>
          </a:xfrm>
        </p:spPr>
        <p:txBody>
          <a:bodyPr>
            <a:normAutofit fontScale="77500" lnSpcReduction="20000"/>
          </a:bodyPr>
          <a:lstStyle/>
          <a:p>
            <a:pPr marL="0" indent="0" fontAlgn="base">
              <a:buNone/>
            </a:pPr>
            <a:r>
              <a:rPr lang="ro-RO" b="1" u="sng" dirty="0">
                <a:latin typeface="Times New Roman" pitchFamily="18" charset="0"/>
                <a:cs typeface="Times New Roman" pitchFamily="18" charset="0"/>
              </a:rPr>
              <a:t>Previzionarea efectivului de iepuri:</a:t>
            </a:r>
          </a:p>
          <a:p>
            <a:pPr marL="0" indent="0" fontAlgn="base">
              <a:buNone/>
            </a:pPr>
            <a:r>
              <a:rPr lang="ro-RO" sz="3400" dirty="0">
                <a:latin typeface="Times New Roman" pitchFamily="18" charset="0"/>
                <a:cs typeface="Times New Roman" pitchFamily="18" charset="0"/>
              </a:rPr>
              <a:t>- efectivul de pornire: 1.000 femele si 100 masculi</a:t>
            </a:r>
          </a:p>
          <a:p>
            <a:pPr marL="0" indent="0" fontAlgn="base">
              <a:buNone/>
            </a:pPr>
            <a:r>
              <a:rPr lang="ro-RO" sz="3400" dirty="0">
                <a:latin typeface="Times New Roman" pitchFamily="18" charset="0"/>
                <a:cs typeface="Times New Roman" pitchFamily="18" charset="0"/>
              </a:rPr>
              <a:t>- numar mediu fatari iepuroaice pe an: 4</a:t>
            </a:r>
          </a:p>
          <a:p>
            <a:pPr marL="0" indent="0" fontAlgn="base">
              <a:buNone/>
            </a:pPr>
            <a:r>
              <a:rPr lang="ro-RO" sz="3400" dirty="0">
                <a:latin typeface="Times New Roman" pitchFamily="18" charset="0"/>
                <a:cs typeface="Times New Roman" pitchFamily="18" charset="0"/>
              </a:rPr>
              <a:t>- fatari totale pe an: 4.000</a:t>
            </a:r>
          </a:p>
          <a:p>
            <a:pPr marL="0" indent="0" fontAlgn="base">
              <a:buNone/>
            </a:pPr>
            <a:r>
              <a:rPr lang="ro-RO" sz="3400" dirty="0">
                <a:latin typeface="Times New Roman" pitchFamily="18" charset="0"/>
                <a:cs typeface="Times New Roman" pitchFamily="18" charset="0"/>
              </a:rPr>
              <a:t>- media iepurilor fatati de o iepuroaica: 8</a:t>
            </a:r>
          </a:p>
          <a:p>
            <a:pPr marL="0" indent="0" fontAlgn="base">
              <a:buNone/>
            </a:pPr>
            <a:r>
              <a:rPr lang="ro-RO" sz="3400" dirty="0">
                <a:latin typeface="Times New Roman" pitchFamily="18" charset="0"/>
                <a:cs typeface="Times New Roman" pitchFamily="18" charset="0"/>
              </a:rPr>
              <a:t>- iepuri obtinuti in total per an: 32.000</a:t>
            </a:r>
          </a:p>
          <a:p>
            <a:pPr marL="0" indent="0" fontAlgn="base">
              <a:buNone/>
            </a:pPr>
            <a:r>
              <a:rPr lang="ro-RO" sz="3400" dirty="0">
                <a:latin typeface="Times New Roman" pitchFamily="18" charset="0"/>
                <a:cs typeface="Times New Roman" pitchFamily="18" charset="0"/>
              </a:rPr>
              <a:t>- pierderi: 15%, adica 4.800 iepuri</a:t>
            </a:r>
          </a:p>
          <a:p>
            <a:pPr marL="0" indent="0" fontAlgn="base">
              <a:buNone/>
            </a:pPr>
            <a:r>
              <a:rPr lang="ro-RO" sz="3400" dirty="0">
                <a:latin typeface="Times New Roman" pitchFamily="18" charset="0"/>
                <a:cs typeface="Times New Roman" pitchFamily="18" charset="0"/>
              </a:rPr>
              <a:t>- efectivul de iepuri obtinuti = 32.000 – 4.800 = 27.200</a:t>
            </a:r>
          </a:p>
          <a:p>
            <a:pPr fontAlgn="base">
              <a:buFontTx/>
              <a:buChar char="-"/>
            </a:pPr>
            <a:r>
              <a:rPr lang="ro-RO" sz="3400" dirty="0" smtClean="0">
                <a:latin typeface="Times New Roman" pitchFamily="18" charset="0"/>
                <a:cs typeface="Times New Roman" pitchFamily="18" charset="0"/>
              </a:rPr>
              <a:t>efectivul </a:t>
            </a:r>
            <a:r>
              <a:rPr lang="ro-RO" sz="3400" dirty="0">
                <a:latin typeface="Times New Roman" pitchFamily="18" charset="0"/>
                <a:cs typeface="Times New Roman" pitchFamily="18" charset="0"/>
              </a:rPr>
              <a:t>de iepuri valorificati = 27.200 – 550 = 26.650 </a:t>
            </a:r>
            <a:r>
              <a:rPr lang="ro-RO" sz="3400" dirty="0" smtClean="0">
                <a:latin typeface="Times New Roman" pitchFamily="18" charset="0"/>
                <a:cs typeface="Times New Roman" pitchFamily="18" charset="0"/>
              </a:rPr>
              <a:t>iepuri</a:t>
            </a:r>
            <a:r>
              <a:rPr lang="ro-RO" sz="3400" dirty="0" smtClean="0">
                <a:latin typeface="Times New Roman" pitchFamily="18" charset="0"/>
                <a:cs typeface="Times New Roman" pitchFamily="18" charset="0"/>
              </a:rPr>
              <a:t>(</a:t>
            </a:r>
            <a:r>
              <a:rPr lang="it-IT" sz="3400" dirty="0">
                <a:latin typeface="Times New Roman" pitchFamily="18" charset="0"/>
                <a:cs typeface="Times New Roman" pitchFamily="18" charset="0"/>
              </a:rPr>
              <a:t>Ne propunem sa retinem 500 femele si 50 masculi  in vederea introducerii la reproductie in anul II de </a:t>
            </a:r>
            <a:r>
              <a:rPr lang="it-IT" sz="3400" dirty="0" smtClean="0">
                <a:latin typeface="Times New Roman" pitchFamily="18" charset="0"/>
                <a:cs typeface="Times New Roman" pitchFamily="18" charset="0"/>
              </a:rPr>
              <a:t>activitate</a:t>
            </a:r>
            <a:r>
              <a:rPr lang="ro-RO" sz="3400" dirty="0" smtClean="0">
                <a:latin typeface="Times New Roman" pitchFamily="18" charset="0"/>
                <a:cs typeface="Times New Roman" pitchFamily="18" charset="0"/>
              </a:rPr>
              <a:t>).</a:t>
            </a:r>
            <a:endParaRPr lang="ro-RO" sz="3400" dirty="0">
              <a:latin typeface="Times New Roman" pitchFamily="18" charset="0"/>
              <a:cs typeface="Times New Roman" pitchFamily="18" charset="0"/>
            </a:endParaRPr>
          </a:p>
          <a:p>
            <a:pPr marL="0" indent="0" fontAlgn="base">
              <a:buNone/>
            </a:pPr>
            <a:r>
              <a:rPr lang="ro-RO" sz="3400" dirty="0">
                <a:latin typeface="Times New Roman" pitchFamily="18" charset="0"/>
                <a:cs typeface="Times New Roman" pitchFamily="18" charset="0"/>
              </a:rPr>
              <a:t>Asadar, ferma va avea urmatoarele venituri anuale din vanzarea efectivului de iepuri:</a:t>
            </a:r>
          </a:p>
          <a:p>
            <a:pPr marL="0" indent="0" fontAlgn="base">
              <a:buNone/>
            </a:pPr>
            <a:r>
              <a:rPr lang="ro-RO" sz="3400" dirty="0">
                <a:latin typeface="Times New Roman" pitchFamily="18" charset="0"/>
                <a:cs typeface="Times New Roman" pitchFamily="18" charset="0"/>
              </a:rPr>
              <a:t>26.650 iepuri * 3.8 kg / iepure * 10 lei / kg = 1012700 lei</a:t>
            </a:r>
          </a:p>
          <a:p>
            <a:endParaRPr lang="ro-RO" dirty="0"/>
          </a:p>
        </p:txBody>
      </p:sp>
    </p:spTree>
    <p:extLst>
      <p:ext uri="{BB962C8B-B14F-4D97-AF65-F5344CB8AC3E}">
        <p14:creationId xmlns:p14="http://schemas.microsoft.com/office/powerpoint/2010/main" val="3293055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ro-RO" b="1" dirty="0">
                <a:latin typeface="Times New Roman" pitchFamily="18" charset="0"/>
                <a:cs typeface="Times New Roman" pitchFamily="18" charset="0"/>
              </a:rPr>
              <a:t>Situația  economico-</a:t>
            </a:r>
            <a:r>
              <a:rPr lang="vi-VN" b="1" dirty="0">
                <a:latin typeface="Times New Roman" pitchFamily="18" charset="0"/>
                <a:cs typeface="Times New Roman" pitchFamily="18" charset="0"/>
              </a:rPr>
              <a:t>financiară</a:t>
            </a:r>
            <a:endParaRPr lang="ro-RO" dirty="0"/>
          </a:p>
        </p:txBody>
      </p:sp>
      <p:sp>
        <p:nvSpPr>
          <p:cNvPr id="3" name="Content Placeholder 2"/>
          <p:cNvSpPr>
            <a:spLocks noGrp="1"/>
          </p:cNvSpPr>
          <p:nvPr>
            <p:ph idx="1"/>
          </p:nvPr>
        </p:nvSpPr>
        <p:spPr>
          <a:xfrm>
            <a:off x="457200" y="1124744"/>
            <a:ext cx="8229600" cy="5544616"/>
          </a:xfrm>
        </p:spPr>
        <p:txBody>
          <a:bodyPr>
            <a:normAutofit fontScale="32500" lnSpcReduction="20000"/>
          </a:bodyPr>
          <a:lstStyle/>
          <a:p>
            <a:pPr marL="0" indent="0" fontAlgn="base">
              <a:buNone/>
            </a:pPr>
            <a:r>
              <a:rPr lang="ro-RO" sz="6000" b="1" u="sng" dirty="0">
                <a:latin typeface="Times New Roman" pitchFamily="18" charset="0"/>
                <a:cs typeface="Times New Roman" pitchFamily="18" charset="0"/>
              </a:rPr>
              <a:t>Cheltuieli cu alimentatia iepurilor, inclusiv </a:t>
            </a:r>
            <a:r>
              <a:rPr lang="ro-RO" sz="6000" b="1" u="sng" dirty="0" smtClean="0">
                <a:latin typeface="Times New Roman" pitchFamily="18" charset="0"/>
                <a:cs typeface="Times New Roman" pitchFamily="18" charset="0"/>
              </a:rPr>
              <a:t>TVA:</a:t>
            </a:r>
            <a:endParaRPr lang="ro-RO" sz="6000" u="sng" dirty="0">
              <a:latin typeface="Times New Roman" pitchFamily="18" charset="0"/>
              <a:cs typeface="Times New Roman" pitchFamily="18" charset="0"/>
            </a:endParaRPr>
          </a:p>
          <a:p>
            <a:pPr fontAlgn="base"/>
            <a:r>
              <a:rPr lang="ro-RO" sz="6000" dirty="0" smtClean="0">
                <a:latin typeface="Times New Roman" pitchFamily="18" charset="0"/>
                <a:cs typeface="Times New Roman" pitchFamily="18" charset="0"/>
              </a:rPr>
              <a:t>     Cheltuieli cu lucerna: 365 </a:t>
            </a:r>
            <a:r>
              <a:rPr lang="ro-RO" sz="6000" dirty="0">
                <a:latin typeface="Times New Roman" pitchFamily="18" charset="0"/>
                <a:cs typeface="Times New Roman" pitchFamily="18" charset="0"/>
              </a:rPr>
              <a:t>zile * 28 baloti / zi * 7 lei / balot = </a:t>
            </a:r>
            <a:r>
              <a:rPr lang="ro-RO" sz="6000" b="1" dirty="0">
                <a:latin typeface="Times New Roman" pitchFamily="18" charset="0"/>
                <a:cs typeface="Times New Roman" pitchFamily="18" charset="0"/>
              </a:rPr>
              <a:t>71.540 lei / </a:t>
            </a:r>
            <a:r>
              <a:rPr lang="ro-RO" sz="6000" b="1" dirty="0" smtClean="0">
                <a:latin typeface="Times New Roman" pitchFamily="18" charset="0"/>
                <a:cs typeface="Times New Roman" pitchFamily="18" charset="0"/>
              </a:rPr>
              <a:t>an.</a:t>
            </a:r>
            <a:endParaRPr lang="ro-RO" sz="6000" dirty="0">
              <a:latin typeface="Times New Roman" pitchFamily="18" charset="0"/>
              <a:cs typeface="Times New Roman" pitchFamily="18" charset="0"/>
            </a:endParaRPr>
          </a:p>
          <a:p>
            <a:pPr fontAlgn="base"/>
            <a:r>
              <a:rPr lang="ro-RO" sz="6000" dirty="0" smtClean="0">
                <a:latin typeface="Times New Roman" pitchFamily="18" charset="0"/>
                <a:cs typeface="Times New Roman" pitchFamily="18" charset="0"/>
              </a:rPr>
              <a:t>     Cheltuieli </a:t>
            </a:r>
            <a:r>
              <a:rPr lang="ro-RO" sz="6000" dirty="0">
                <a:latin typeface="Times New Roman" pitchFamily="18" charset="0"/>
                <a:cs typeface="Times New Roman" pitchFamily="18" charset="0"/>
              </a:rPr>
              <a:t>cu cerealele: 365 zile * 88 kg / zi * 1 leu / kg = </a:t>
            </a:r>
            <a:r>
              <a:rPr lang="ro-RO" sz="6000" b="1" dirty="0">
                <a:latin typeface="Times New Roman" pitchFamily="18" charset="0"/>
                <a:cs typeface="Times New Roman" pitchFamily="18" charset="0"/>
              </a:rPr>
              <a:t>32.120 lei / </a:t>
            </a:r>
            <a:r>
              <a:rPr lang="ro-RO" sz="6000" b="1" dirty="0" smtClean="0">
                <a:latin typeface="Times New Roman" pitchFamily="18" charset="0"/>
                <a:cs typeface="Times New Roman" pitchFamily="18" charset="0"/>
              </a:rPr>
              <a:t>an (</a:t>
            </a:r>
            <a:r>
              <a:rPr lang="it-IT" sz="6000" dirty="0">
                <a:latin typeface="Times New Roman" pitchFamily="18" charset="0"/>
                <a:cs typeface="Times New Roman" pitchFamily="18" charset="0"/>
              </a:rPr>
              <a:t>1.100 iepuri maturi * 0.08 kg cereale / zi = 88 kg cereale / zi</a:t>
            </a:r>
            <a:r>
              <a:rPr lang="ro-RO" sz="6000" b="1" dirty="0" smtClean="0">
                <a:latin typeface="Times New Roman" pitchFamily="18" charset="0"/>
                <a:cs typeface="Times New Roman" pitchFamily="18" charset="0"/>
              </a:rPr>
              <a:t>).</a:t>
            </a:r>
            <a:endParaRPr lang="ro-RO" sz="6000" dirty="0">
              <a:latin typeface="Times New Roman" pitchFamily="18" charset="0"/>
              <a:cs typeface="Times New Roman" pitchFamily="18" charset="0"/>
            </a:endParaRPr>
          </a:p>
          <a:p>
            <a:pPr fontAlgn="base"/>
            <a:r>
              <a:rPr lang="ro-RO" sz="6000" dirty="0" smtClean="0">
                <a:latin typeface="Times New Roman" pitchFamily="18" charset="0"/>
                <a:cs typeface="Times New Roman" pitchFamily="18" charset="0"/>
              </a:rPr>
              <a:t>     Cheltuieli </a:t>
            </a:r>
            <a:r>
              <a:rPr lang="ro-RO" sz="6000" dirty="0">
                <a:latin typeface="Times New Roman" pitchFamily="18" charset="0"/>
                <a:cs typeface="Times New Roman" pitchFamily="18" charset="0"/>
              </a:rPr>
              <a:t>cu surplusul de </a:t>
            </a:r>
            <a:r>
              <a:rPr lang="ro-RO" sz="6000" dirty="0" smtClean="0">
                <a:latin typeface="Times New Roman" pitchFamily="18" charset="0"/>
                <a:cs typeface="Times New Roman" pitchFamily="18" charset="0"/>
              </a:rPr>
              <a:t>cereale:1.000 </a:t>
            </a:r>
            <a:r>
              <a:rPr lang="ro-RO" sz="6000" dirty="0">
                <a:latin typeface="Times New Roman" pitchFamily="18" charset="0"/>
                <a:cs typeface="Times New Roman" pitchFamily="18" charset="0"/>
              </a:rPr>
              <a:t>iepuroaice * 45 zile * 0.02 kg / zi * 1 leu / kg = 900 lei / ciclu de </a:t>
            </a:r>
            <a:r>
              <a:rPr lang="ro-RO" sz="6000" dirty="0" smtClean="0">
                <a:latin typeface="Times New Roman" pitchFamily="18" charset="0"/>
                <a:cs typeface="Times New Roman" pitchFamily="18" charset="0"/>
              </a:rPr>
              <a:t>crestere(</a:t>
            </a:r>
            <a:r>
              <a:rPr lang="ro-RO" sz="6200" dirty="0" smtClean="0">
                <a:latin typeface="Times New Roman" pitchFamily="18" charset="0"/>
                <a:cs typeface="Times New Roman" pitchFamily="18" charset="0"/>
              </a:rPr>
              <a:t>Puii raman in grija mamei pana la varsta de 45 zile, de aceea trebuie sa aducem un surplus de hrana mamei, aproximativ 20 gr / zi.</a:t>
            </a:r>
            <a:r>
              <a:rPr lang="ro-RO" sz="6200" dirty="0" smtClean="0">
                <a:latin typeface="Times New Roman" pitchFamily="18" charset="0"/>
                <a:cs typeface="Times New Roman" pitchFamily="18" charset="0"/>
              </a:rPr>
              <a:t>)</a:t>
            </a:r>
            <a:endParaRPr lang="ro-RO" sz="6200" dirty="0">
              <a:latin typeface="Times New Roman" pitchFamily="18" charset="0"/>
              <a:cs typeface="Times New Roman" pitchFamily="18" charset="0"/>
            </a:endParaRPr>
          </a:p>
          <a:p>
            <a:pPr fontAlgn="base"/>
            <a:r>
              <a:rPr lang="ro-RO" sz="6000" dirty="0">
                <a:latin typeface="Times New Roman" pitchFamily="18" charset="0"/>
                <a:cs typeface="Times New Roman" pitchFamily="18" charset="0"/>
              </a:rPr>
              <a:t>Datorita faptului ca am luat in calcul 4 fatari pe an, cheltuielile anuale cu surplusul de cereale </a:t>
            </a:r>
            <a:r>
              <a:rPr lang="ro-RO" sz="6000" dirty="0" smtClean="0">
                <a:latin typeface="Times New Roman" pitchFamily="18" charset="0"/>
                <a:cs typeface="Times New Roman" pitchFamily="18" charset="0"/>
              </a:rPr>
              <a:t>devin:4* </a:t>
            </a:r>
            <a:r>
              <a:rPr lang="ro-RO" sz="6000" dirty="0">
                <a:latin typeface="Times New Roman" pitchFamily="18" charset="0"/>
                <a:cs typeface="Times New Roman" pitchFamily="18" charset="0"/>
              </a:rPr>
              <a:t>900 lei = </a:t>
            </a:r>
            <a:r>
              <a:rPr lang="ro-RO" sz="6000" b="1" dirty="0">
                <a:latin typeface="Times New Roman" pitchFamily="18" charset="0"/>
                <a:cs typeface="Times New Roman" pitchFamily="18" charset="0"/>
              </a:rPr>
              <a:t>3.600 lei </a:t>
            </a:r>
            <a:r>
              <a:rPr lang="ro-RO" sz="6000" b="1" dirty="0" smtClean="0">
                <a:latin typeface="Times New Roman" pitchFamily="18" charset="0"/>
                <a:cs typeface="Times New Roman" pitchFamily="18" charset="0"/>
              </a:rPr>
              <a:t>/an.</a:t>
            </a:r>
            <a:endParaRPr lang="ro-RO" sz="6000" dirty="0">
              <a:latin typeface="Times New Roman" pitchFamily="18" charset="0"/>
              <a:cs typeface="Times New Roman" pitchFamily="18" charset="0"/>
            </a:endParaRPr>
          </a:p>
          <a:p>
            <a:pPr fontAlgn="base"/>
            <a:r>
              <a:rPr lang="ro-RO" sz="6000" dirty="0" smtClean="0">
                <a:latin typeface="Times New Roman" pitchFamily="18" charset="0"/>
                <a:cs typeface="Times New Roman" pitchFamily="18" charset="0"/>
              </a:rPr>
              <a:t>     Cheltuieli </a:t>
            </a:r>
            <a:r>
              <a:rPr lang="ro-RO" sz="6000" dirty="0">
                <a:latin typeface="Times New Roman" pitchFamily="18" charset="0"/>
                <a:cs typeface="Times New Roman" pitchFamily="18" charset="0"/>
              </a:rPr>
              <a:t>cu hrana iepurilor de la intarcare pana la </a:t>
            </a:r>
            <a:r>
              <a:rPr lang="ro-RO" sz="6000" dirty="0" smtClean="0">
                <a:latin typeface="Times New Roman" pitchFamily="18" charset="0"/>
                <a:cs typeface="Times New Roman" pitchFamily="18" charset="0"/>
              </a:rPr>
              <a:t>sacrificare</a:t>
            </a:r>
            <a:r>
              <a:rPr lang="ro-RO" sz="6000" dirty="0" smtClean="0">
                <a:latin typeface="Times New Roman" pitchFamily="18" charset="0"/>
                <a:cs typeface="Times New Roman" pitchFamily="18" charset="0"/>
              </a:rPr>
              <a:t>:                 90 </a:t>
            </a:r>
            <a:r>
              <a:rPr lang="ro-RO" sz="6000" dirty="0">
                <a:latin typeface="Times New Roman" pitchFamily="18" charset="0"/>
                <a:cs typeface="Times New Roman" pitchFamily="18" charset="0"/>
              </a:rPr>
              <a:t>zile * 0.06 kg / zi * 27.200 iepuri * 1 leu/ kg = </a:t>
            </a:r>
            <a:r>
              <a:rPr lang="ro-RO" sz="6000" b="1" dirty="0">
                <a:latin typeface="Times New Roman" pitchFamily="18" charset="0"/>
                <a:cs typeface="Times New Roman" pitchFamily="18" charset="0"/>
              </a:rPr>
              <a:t>146880</a:t>
            </a:r>
            <a:r>
              <a:rPr lang="ro-RO" sz="6000" dirty="0">
                <a:latin typeface="Times New Roman" pitchFamily="18" charset="0"/>
                <a:cs typeface="Times New Roman" pitchFamily="18" charset="0"/>
              </a:rPr>
              <a:t> lei/ an</a:t>
            </a:r>
          </a:p>
          <a:p>
            <a:pPr fontAlgn="base"/>
            <a:r>
              <a:rPr lang="ro-RO" sz="6000" dirty="0">
                <a:latin typeface="Times New Roman" pitchFamily="18" charset="0"/>
                <a:cs typeface="Times New Roman" pitchFamily="18" charset="0"/>
              </a:rPr>
              <a:t>Cheltuieli anuale cu hrana iepurilor (atat a celor maturi cat si a efectivului produs in cele 4 cicluri de reproductie</a:t>
            </a:r>
            <a:r>
              <a:rPr lang="ro-RO" sz="6000" dirty="0" smtClean="0">
                <a:latin typeface="Times New Roman" pitchFamily="18" charset="0"/>
                <a:cs typeface="Times New Roman" pitchFamily="18" charset="0"/>
              </a:rPr>
              <a:t>):71.540 </a:t>
            </a:r>
            <a:r>
              <a:rPr lang="ro-RO" sz="6000" dirty="0">
                <a:latin typeface="Times New Roman" pitchFamily="18" charset="0"/>
                <a:cs typeface="Times New Roman" pitchFamily="18" charset="0"/>
              </a:rPr>
              <a:t>lei  + 32.120 lei  + 3.600 lei  + 146880 lei  = </a:t>
            </a:r>
            <a:r>
              <a:rPr lang="ro-RO" sz="6000" b="1" dirty="0">
                <a:latin typeface="Times New Roman" pitchFamily="18" charset="0"/>
                <a:cs typeface="Times New Roman" pitchFamily="18" charset="0"/>
              </a:rPr>
              <a:t>254140 lei</a:t>
            </a:r>
            <a:endParaRPr lang="ro-RO" sz="6000" dirty="0">
              <a:latin typeface="Times New Roman" pitchFamily="18" charset="0"/>
              <a:cs typeface="Times New Roman" pitchFamily="18" charset="0"/>
            </a:endParaRPr>
          </a:p>
          <a:p>
            <a:endParaRPr lang="ro-RO" dirty="0"/>
          </a:p>
        </p:txBody>
      </p:sp>
    </p:spTree>
    <p:extLst>
      <p:ext uri="{BB962C8B-B14F-4D97-AF65-F5344CB8AC3E}">
        <p14:creationId xmlns:p14="http://schemas.microsoft.com/office/powerpoint/2010/main" val="2171875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lstStyle/>
          <a:p>
            <a:r>
              <a:rPr lang="ro-RO" b="1" dirty="0">
                <a:latin typeface="Times New Roman" pitchFamily="18" charset="0"/>
                <a:cs typeface="Times New Roman" pitchFamily="18" charset="0"/>
              </a:rPr>
              <a:t>Situația  economico-</a:t>
            </a:r>
            <a:r>
              <a:rPr lang="vi-VN" b="1" dirty="0">
                <a:latin typeface="Times New Roman" pitchFamily="18" charset="0"/>
                <a:cs typeface="Times New Roman" pitchFamily="18" charset="0"/>
              </a:rPr>
              <a:t>financiară</a:t>
            </a:r>
            <a:endParaRPr lang="ro-RO" dirty="0"/>
          </a:p>
        </p:txBody>
      </p:sp>
      <p:sp>
        <p:nvSpPr>
          <p:cNvPr id="3" name="Content Placeholder 2"/>
          <p:cNvSpPr>
            <a:spLocks noGrp="1"/>
          </p:cNvSpPr>
          <p:nvPr>
            <p:ph idx="1"/>
          </p:nvPr>
        </p:nvSpPr>
        <p:spPr>
          <a:xfrm>
            <a:off x="457200" y="836712"/>
            <a:ext cx="8229600" cy="6021288"/>
          </a:xfrm>
        </p:spPr>
        <p:txBody>
          <a:bodyPr>
            <a:normAutofit/>
          </a:bodyPr>
          <a:lstStyle/>
          <a:p>
            <a:pPr marL="0" indent="0">
              <a:buNone/>
            </a:pPr>
            <a:r>
              <a:rPr lang="ro-RO" sz="2400" b="1" u="sng" dirty="0" smtClean="0">
                <a:latin typeface="Times New Roman" pitchFamily="18" charset="0"/>
                <a:cs typeface="Times New Roman" pitchFamily="18" charset="0"/>
              </a:rPr>
              <a:t>Cheltuieli </a:t>
            </a:r>
            <a:r>
              <a:rPr lang="ro-RO" sz="2400" b="1" u="sng" dirty="0">
                <a:latin typeface="Times New Roman" pitchFamily="18" charset="0"/>
                <a:cs typeface="Times New Roman" pitchFamily="18" charset="0"/>
              </a:rPr>
              <a:t>cu </a:t>
            </a:r>
            <a:r>
              <a:rPr lang="ro-RO" sz="2400" b="1" u="sng" dirty="0" smtClean="0">
                <a:latin typeface="Times New Roman" pitchFamily="18" charset="0"/>
                <a:cs typeface="Times New Roman" pitchFamily="18" charset="0"/>
              </a:rPr>
              <a:t>salariile</a:t>
            </a:r>
            <a:r>
              <a:rPr lang="ro-RO" sz="2400" b="1" u="sng" dirty="0" smtClean="0">
                <a:latin typeface="Times New Roman" pitchFamily="18" charset="0"/>
                <a:cs typeface="Times New Roman" pitchFamily="18" charset="0"/>
              </a:rPr>
              <a:t>:</a:t>
            </a:r>
            <a:endParaRPr lang="ro-RO" sz="2400" b="1" u="sng" dirty="0" smtClean="0">
              <a:latin typeface="Times New Roman" pitchFamily="18" charset="0"/>
              <a:cs typeface="Times New Roman" pitchFamily="18" charset="0"/>
            </a:endParaRPr>
          </a:p>
          <a:p>
            <a:pPr marL="0" indent="0">
              <a:buNone/>
            </a:pPr>
            <a:endParaRPr lang="ro-RO" sz="2400" b="1" u="sng" dirty="0">
              <a:latin typeface="Times New Roman" pitchFamily="18" charset="0"/>
              <a:cs typeface="Times New Roman" pitchFamily="18" charset="0"/>
            </a:endParaRPr>
          </a:p>
          <a:p>
            <a:pPr marL="0" indent="0">
              <a:buNone/>
            </a:pPr>
            <a:endParaRPr lang="ro-RO" sz="2400" b="1" u="sng" dirty="0" smtClean="0">
              <a:latin typeface="Times New Roman" pitchFamily="18" charset="0"/>
              <a:cs typeface="Times New Roman" pitchFamily="18" charset="0"/>
            </a:endParaRPr>
          </a:p>
          <a:p>
            <a:pPr marL="0" indent="0">
              <a:buNone/>
            </a:pPr>
            <a:endParaRPr lang="ro-RO" sz="2400" b="1" u="sng" dirty="0">
              <a:latin typeface="Times New Roman" pitchFamily="18" charset="0"/>
              <a:cs typeface="Times New Roman" pitchFamily="18" charset="0"/>
            </a:endParaRPr>
          </a:p>
          <a:p>
            <a:pPr marL="0" indent="0">
              <a:buNone/>
            </a:pPr>
            <a:endParaRPr lang="ro-RO" sz="2400" b="1" u="sng" dirty="0" smtClean="0">
              <a:latin typeface="Times New Roman" pitchFamily="18" charset="0"/>
              <a:cs typeface="Times New Roman" pitchFamily="18" charset="0"/>
            </a:endParaRPr>
          </a:p>
          <a:p>
            <a:pPr fontAlgn="base"/>
            <a:endParaRPr lang="ro-RO" sz="2400" dirty="0" smtClean="0"/>
          </a:p>
          <a:p>
            <a:pPr fontAlgn="base"/>
            <a:r>
              <a:rPr lang="it-IT" sz="2400" dirty="0" smtClean="0">
                <a:latin typeface="Times New Roman" pitchFamily="18" charset="0"/>
                <a:cs typeface="Times New Roman" pitchFamily="18" charset="0"/>
              </a:rPr>
              <a:t>Contributii </a:t>
            </a:r>
            <a:r>
              <a:rPr lang="it-IT" sz="2400" dirty="0">
                <a:latin typeface="Times New Roman" pitchFamily="18" charset="0"/>
                <a:cs typeface="Times New Roman" pitchFamily="18" charset="0"/>
              </a:rPr>
              <a:t>datorate la stat pentru salarii: 28.55%</a:t>
            </a:r>
          </a:p>
          <a:p>
            <a:pPr fontAlgn="base"/>
            <a:r>
              <a:rPr lang="it-IT" sz="2400" b="1" dirty="0">
                <a:latin typeface="Times New Roman" pitchFamily="18" charset="0"/>
                <a:cs typeface="Times New Roman" pitchFamily="18" charset="0"/>
              </a:rPr>
              <a:t>Total cheltuieli anuale cu salariile:</a:t>
            </a:r>
            <a:r>
              <a:rPr lang="it-IT" sz="2400" dirty="0">
                <a:latin typeface="Times New Roman" pitchFamily="18" charset="0"/>
                <a:cs typeface="Times New Roman" pitchFamily="18" charset="0"/>
              </a:rPr>
              <a:t> 202800 * 1.2855% = </a:t>
            </a:r>
            <a:r>
              <a:rPr lang="it-IT" sz="2400" b="1" dirty="0">
                <a:latin typeface="Times New Roman" pitchFamily="18" charset="0"/>
                <a:cs typeface="Times New Roman" pitchFamily="18" charset="0"/>
              </a:rPr>
              <a:t>260699.4 </a:t>
            </a:r>
            <a:r>
              <a:rPr lang="it-IT" sz="2400" b="1" dirty="0" smtClean="0">
                <a:latin typeface="Times New Roman" pitchFamily="18" charset="0"/>
                <a:cs typeface="Times New Roman" pitchFamily="18" charset="0"/>
              </a:rPr>
              <a:t>lei</a:t>
            </a:r>
            <a:endParaRPr lang="ro-RO" sz="2400" u="sng" dirty="0" smtClean="0">
              <a:latin typeface="Times New Roman" pitchFamily="18" charset="0"/>
              <a:cs typeface="Times New Roman" pitchFamily="18" charset="0"/>
            </a:endParaRPr>
          </a:p>
          <a:p>
            <a:pPr marL="0" indent="0">
              <a:buNone/>
            </a:pPr>
            <a:r>
              <a:rPr lang="ro-RO" sz="2400" b="1" u="sng" dirty="0">
                <a:latin typeface="Times New Roman" pitchFamily="18" charset="0"/>
                <a:cs typeface="Times New Roman" pitchFamily="18" charset="0"/>
              </a:rPr>
              <a:t>Cheltuieli cu întreţinerea fermei, inclusiv TVA</a:t>
            </a:r>
            <a:r>
              <a:rPr lang="ro-RO" sz="2400" b="1" u="sng" dirty="0" smtClean="0">
                <a:latin typeface="Times New Roman" pitchFamily="18" charset="0"/>
                <a:cs typeface="Times New Roman" pitchFamily="18" charset="0"/>
              </a:rPr>
              <a:t>:</a:t>
            </a:r>
            <a:endParaRPr lang="ro-RO" sz="2400" b="1" u="sng" dirty="0" smtClean="0">
              <a:latin typeface="Times New Roman" pitchFamily="18" charset="0"/>
              <a:cs typeface="Times New Roman" pitchFamily="18" charset="0"/>
            </a:endParaRPr>
          </a:p>
          <a:p>
            <a:pPr marL="0" indent="0">
              <a:buNone/>
            </a:pPr>
            <a:endParaRPr lang="ro-RO" sz="2400" b="1" u="sng" dirty="0">
              <a:latin typeface="Times New Roman" pitchFamily="18" charset="0"/>
              <a:cs typeface="Times New Roman" pitchFamily="18" charset="0"/>
            </a:endParaRPr>
          </a:p>
          <a:p>
            <a:pPr marL="0" indent="0">
              <a:buNone/>
            </a:pPr>
            <a:endParaRPr lang="ro-RO" sz="2400" b="1" u="sng" dirty="0" smtClean="0">
              <a:latin typeface="Times New Roman" pitchFamily="18" charset="0"/>
              <a:cs typeface="Times New Roman" pitchFamily="18" charset="0"/>
            </a:endParaRPr>
          </a:p>
          <a:p>
            <a:pPr marL="0" indent="0">
              <a:buNone/>
            </a:pPr>
            <a:endParaRPr lang="ro-RO" sz="2400" b="1" u="sng"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162" y="1359115"/>
            <a:ext cx="5581650"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9162" y="5373216"/>
            <a:ext cx="55816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0443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b="1" dirty="0">
                <a:latin typeface="Times New Roman" pitchFamily="18" charset="0"/>
                <a:cs typeface="Times New Roman" pitchFamily="18" charset="0"/>
              </a:rPr>
              <a:t>Situația  economico-</a:t>
            </a:r>
            <a:r>
              <a:rPr lang="vi-VN" b="1" dirty="0">
                <a:latin typeface="Times New Roman" pitchFamily="18" charset="0"/>
                <a:cs typeface="Times New Roman" pitchFamily="18" charset="0"/>
              </a:rPr>
              <a:t>financiară</a:t>
            </a:r>
            <a:endParaRPr lang="ro-RO" dirty="0"/>
          </a:p>
        </p:txBody>
      </p:sp>
      <p:sp>
        <p:nvSpPr>
          <p:cNvPr id="3" name="Content Placeholder 2"/>
          <p:cNvSpPr>
            <a:spLocks noGrp="1"/>
          </p:cNvSpPr>
          <p:nvPr>
            <p:ph idx="1"/>
          </p:nvPr>
        </p:nvSpPr>
        <p:spPr/>
        <p:txBody>
          <a:bodyPr>
            <a:normAutofit fontScale="92500"/>
          </a:bodyPr>
          <a:lstStyle/>
          <a:p>
            <a:pPr marL="0" indent="0" fontAlgn="base">
              <a:buNone/>
            </a:pPr>
            <a:r>
              <a:rPr lang="it-IT" b="1" u="sng" dirty="0">
                <a:latin typeface="Times New Roman" pitchFamily="18" charset="0"/>
                <a:cs typeface="Times New Roman" pitchFamily="18" charset="0"/>
              </a:rPr>
              <a:t>Total cheltuieli:</a:t>
            </a:r>
          </a:p>
          <a:p>
            <a:pPr marL="0" indent="0" fontAlgn="base">
              <a:buNone/>
            </a:pPr>
            <a:r>
              <a:rPr lang="it-IT" b="1" dirty="0">
                <a:latin typeface="Times New Roman" pitchFamily="18" charset="0"/>
                <a:cs typeface="Times New Roman" pitchFamily="18" charset="0"/>
              </a:rPr>
              <a:t>260699.4</a:t>
            </a:r>
            <a:r>
              <a:rPr lang="it-IT" dirty="0">
                <a:latin typeface="Times New Roman" pitchFamily="18" charset="0"/>
                <a:cs typeface="Times New Roman" pitchFamily="18" charset="0"/>
              </a:rPr>
              <a:t> lei + </a:t>
            </a:r>
            <a:r>
              <a:rPr lang="it-IT" b="1" dirty="0">
                <a:latin typeface="Times New Roman" pitchFamily="18" charset="0"/>
                <a:cs typeface="Times New Roman" pitchFamily="18" charset="0"/>
              </a:rPr>
              <a:t>254140</a:t>
            </a:r>
            <a:r>
              <a:rPr lang="it-IT" dirty="0">
                <a:latin typeface="Times New Roman" pitchFamily="18" charset="0"/>
                <a:cs typeface="Times New Roman" pitchFamily="18" charset="0"/>
              </a:rPr>
              <a:t> lei + </a:t>
            </a:r>
            <a:r>
              <a:rPr lang="it-IT" b="1" dirty="0">
                <a:latin typeface="Times New Roman" pitchFamily="18" charset="0"/>
                <a:cs typeface="Times New Roman" pitchFamily="18" charset="0"/>
              </a:rPr>
              <a:t>162000</a:t>
            </a:r>
            <a:r>
              <a:rPr lang="it-IT" dirty="0">
                <a:latin typeface="Times New Roman" pitchFamily="18" charset="0"/>
                <a:cs typeface="Times New Roman" pitchFamily="18" charset="0"/>
              </a:rPr>
              <a:t> lei = </a:t>
            </a:r>
            <a:r>
              <a:rPr lang="it-IT" b="1" dirty="0">
                <a:latin typeface="Times New Roman" pitchFamily="18" charset="0"/>
                <a:cs typeface="Times New Roman" pitchFamily="18" charset="0"/>
              </a:rPr>
              <a:t>676839</a:t>
            </a:r>
            <a:r>
              <a:rPr lang="it-IT" dirty="0">
                <a:latin typeface="Times New Roman" pitchFamily="18" charset="0"/>
                <a:cs typeface="Times New Roman" pitchFamily="18" charset="0"/>
              </a:rPr>
              <a:t> </a:t>
            </a:r>
            <a:r>
              <a:rPr lang="it-IT" dirty="0" smtClean="0">
                <a:latin typeface="Times New Roman" pitchFamily="18" charset="0"/>
                <a:cs typeface="Times New Roman" pitchFamily="18" charset="0"/>
              </a:rPr>
              <a:t>lei</a:t>
            </a:r>
            <a:endParaRPr lang="it-IT" dirty="0">
              <a:latin typeface="Times New Roman" pitchFamily="18" charset="0"/>
              <a:cs typeface="Times New Roman" pitchFamily="18" charset="0"/>
            </a:endParaRPr>
          </a:p>
          <a:p>
            <a:pPr marL="0" indent="0" fontAlgn="base">
              <a:buNone/>
            </a:pPr>
            <a:r>
              <a:rPr lang="ro-RO" dirty="0" smtClean="0">
                <a:latin typeface="Times New Roman" pitchFamily="18" charset="0"/>
                <a:cs typeface="Times New Roman" pitchFamily="18" charset="0"/>
              </a:rPr>
              <a:t>-</a:t>
            </a:r>
            <a:r>
              <a:rPr lang="it-IT" dirty="0" smtClean="0">
                <a:latin typeface="Times New Roman" pitchFamily="18" charset="0"/>
                <a:cs typeface="Times New Roman" pitchFamily="18" charset="0"/>
              </a:rPr>
              <a:t>Venituri </a:t>
            </a:r>
            <a:r>
              <a:rPr lang="it-IT" dirty="0">
                <a:latin typeface="Times New Roman" pitchFamily="18" charset="0"/>
                <a:cs typeface="Times New Roman" pitchFamily="18" charset="0"/>
              </a:rPr>
              <a:t>anuale totale: </a:t>
            </a:r>
            <a:r>
              <a:rPr lang="it-IT" b="1" dirty="0">
                <a:latin typeface="Times New Roman" pitchFamily="18" charset="0"/>
                <a:cs typeface="Times New Roman" pitchFamily="18" charset="0"/>
              </a:rPr>
              <a:t>1012700</a:t>
            </a:r>
            <a:r>
              <a:rPr lang="it-IT" dirty="0">
                <a:latin typeface="Times New Roman" pitchFamily="18" charset="0"/>
                <a:cs typeface="Times New Roman" pitchFamily="18" charset="0"/>
              </a:rPr>
              <a:t> lei</a:t>
            </a:r>
          </a:p>
          <a:p>
            <a:pPr marL="0" indent="0" fontAlgn="base">
              <a:buNone/>
            </a:pPr>
            <a:r>
              <a:rPr lang="ro-RO" dirty="0" smtClean="0">
                <a:latin typeface="Times New Roman" pitchFamily="18" charset="0"/>
                <a:cs typeface="Times New Roman" pitchFamily="18" charset="0"/>
              </a:rPr>
              <a:t>-</a:t>
            </a:r>
            <a:r>
              <a:rPr lang="it-IT" dirty="0" smtClean="0">
                <a:latin typeface="Times New Roman" pitchFamily="18" charset="0"/>
                <a:cs typeface="Times New Roman" pitchFamily="18" charset="0"/>
              </a:rPr>
              <a:t>Cheltuieli </a:t>
            </a:r>
            <a:r>
              <a:rPr lang="it-IT" dirty="0">
                <a:latin typeface="Times New Roman" pitchFamily="18" charset="0"/>
                <a:cs typeface="Times New Roman" pitchFamily="18" charset="0"/>
              </a:rPr>
              <a:t>anuale totale: </a:t>
            </a:r>
            <a:r>
              <a:rPr lang="it-IT" b="1" dirty="0">
                <a:latin typeface="Times New Roman" pitchFamily="18" charset="0"/>
                <a:cs typeface="Times New Roman" pitchFamily="18" charset="0"/>
              </a:rPr>
              <a:t>676839</a:t>
            </a:r>
            <a:r>
              <a:rPr lang="it-IT" dirty="0">
                <a:latin typeface="Times New Roman" pitchFamily="18" charset="0"/>
                <a:cs typeface="Times New Roman" pitchFamily="18" charset="0"/>
              </a:rPr>
              <a:t> lei</a:t>
            </a:r>
          </a:p>
          <a:p>
            <a:pPr marL="0" indent="0" fontAlgn="base">
              <a:buNone/>
            </a:pPr>
            <a:r>
              <a:rPr lang="ro-RO" dirty="0" smtClean="0">
                <a:latin typeface="Times New Roman" pitchFamily="18" charset="0"/>
                <a:cs typeface="Times New Roman" pitchFamily="18" charset="0"/>
              </a:rPr>
              <a:t>-</a:t>
            </a:r>
            <a:r>
              <a:rPr lang="it-IT" dirty="0" smtClean="0">
                <a:latin typeface="Times New Roman" pitchFamily="18" charset="0"/>
                <a:cs typeface="Times New Roman" pitchFamily="18" charset="0"/>
              </a:rPr>
              <a:t>Profit </a:t>
            </a:r>
            <a:r>
              <a:rPr lang="it-IT" dirty="0">
                <a:latin typeface="Times New Roman" pitchFamily="18" charset="0"/>
                <a:cs typeface="Times New Roman" pitchFamily="18" charset="0"/>
              </a:rPr>
              <a:t>brut = </a:t>
            </a:r>
            <a:r>
              <a:rPr lang="it-IT" b="1" dirty="0">
                <a:latin typeface="Times New Roman" pitchFamily="18" charset="0"/>
                <a:cs typeface="Times New Roman" pitchFamily="18" charset="0"/>
              </a:rPr>
              <a:t>1012700</a:t>
            </a:r>
            <a:r>
              <a:rPr lang="it-IT" dirty="0">
                <a:latin typeface="Times New Roman" pitchFamily="18" charset="0"/>
                <a:cs typeface="Times New Roman" pitchFamily="18" charset="0"/>
              </a:rPr>
              <a:t> lei </a:t>
            </a:r>
            <a:r>
              <a:rPr lang="it-IT" dirty="0" smtClean="0">
                <a:latin typeface="Times New Roman" pitchFamily="18" charset="0"/>
                <a:cs typeface="Times New Roman" pitchFamily="18" charset="0"/>
              </a:rPr>
              <a:t>–</a:t>
            </a:r>
            <a:r>
              <a:rPr lang="it-IT" b="1" dirty="0" smtClean="0">
                <a:latin typeface="Times New Roman" pitchFamily="18" charset="0"/>
                <a:cs typeface="Times New Roman" pitchFamily="18" charset="0"/>
              </a:rPr>
              <a:t>676839</a:t>
            </a:r>
            <a:r>
              <a:rPr lang="it-IT" dirty="0">
                <a:latin typeface="Times New Roman" pitchFamily="18" charset="0"/>
                <a:cs typeface="Times New Roman" pitchFamily="18" charset="0"/>
              </a:rPr>
              <a:t> </a:t>
            </a:r>
            <a:r>
              <a:rPr lang="it-IT" dirty="0" smtClean="0">
                <a:latin typeface="Times New Roman" pitchFamily="18" charset="0"/>
                <a:cs typeface="Times New Roman" pitchFamily="18" charset="0"/>
              </a:rPr>
              <a:t>lei=</a:t>
            </a:r>
            <a:r>
              <a:rPr lang="it-IT" dirty="0">
                <a:latin typeface="Times New Roman" pitchFamily="18" charset="0"/>
                <a:cs typeface="Times New Roman" pitchFamily="18" charset="0"/>
              </a:rPr>
              <a:t> </a:t>
            </a:r>
            <a:r>
              <a:rPr lang="it-IT" b="1" dirty="0">
                <a:latin typeface="Times New Roman" pitchFamily="18" charset="0"/>
                <a:cs typeface="Times New Roman" pitchFamily="18" charset="0"/>
              </a:rPr>
              <a:t>335861</a:t>
            </a:r>
            <a:r>
              <a:rPr lang="it-IT" dirty="0">
                <a:latin typeface="Times New Roman" pitchFamily="18" charset="0"/>
                <a:cs typeface="Times New Roman" pitchFamily="18" charset="0"/>
              </a:rPr>
              <a:t> lei</a:t>
            </a:r>
          </a:p>
          <a:p>
            <a:pPr marL="0" indent="0" fontAlgn="base">
              <a:buNone/>
            </a:pPr>
            <a:r>
              <a:rPr lang="ro-RO" dirty="0" smtClean="0">
                <a:latin typeface="Times New Roman" pitchFamily="18" charset="0"/>
                <a:cs typeface="Times New Roman" pitchFamily="18" charset="0"/>
              </a:rPr>
              <a:t>-</a:t>
            </a:r>
            <a:r>
              <a:rPr lang="it-IT" dirty="0" smtClean="0">
                <a:latin typeface="Times New Roman" pitchFamily="18" charset="0"/>
                <a:cs typeface="Times New Roman" pitchFamily="18" charset="0"/>
              </a:rPr>
              <a:t>Profit </a:t>
            </a:r>
            <a:r>
              <a:rPr lang="it-IT" dirty="0">
                <a:latin typeface="Times New Roman" pitchFamily="18" charset="0"/>
                <a:cs typeface="Times New Roman" pitchFamily="18" charset="0"/>
              </a:rPr>
              <a:t>net = profitul brut – impozitul pe profit (16%) = </a:t>
            </a:r>
            <a:r>
              <a:rPr lang="it-IT" b="1" dirty="0">
                <a:latin typeface="Times New Roman" pitchFamily="18" charset="0"/>
                <a:cs typeface="Times New Roman" pitchFamily="18" charset="0"/>
              </a:rPr>
              <a:t>282123 lei</a:t>
            </a:r>
            <a:endParaRPr lang="it-IT" dirty="0">
              <a:latin typeface="Times New Roman" pitchFamily="18" charset="0"/>
              <a:cs typeface="Times New Roman" pitchFamily="18" charset="0"/>
            </a:endParaRPr>
          </a:p>
          <a:p>
            <a:endParaRPr lang="ro-RO" dirty="0"/>
          </a:p>
        </p:txBody>
      </p:sp>
    </p:spTree>
    <p:extLst>
      <p:ext uri="{BB962C8B-B14F-4D97-AF65-F5344CB8AC3E}">
        <p14:creationId xmlns:p14="http://schemas.microsoft.com/office/powerpoint/2010/main" val="3156318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TotalTime>
  <Words>758</Words>
  <Application>Microsoft Office PowerPoint</Application>
  <PresentationFormat>On-screen Show (4:3)</PresentationFormat>
  <Paragraphs>104</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Plan de afaceri:</vt:lpstr>
      <vt:lpstr>Cuprins:</vt:lpstr>
      <vt:lpstr>Sinteza planului de afacere</vt:lpstr>
      <vt:lpstr>Datele de identificare</vt:lpstr>
      <vt:lpstr>Descrierea afacerii</vt:lpstr>
      <vt:lpstr>Definirea pieței </vt:lpstr>
      <vt:lpstr>Descrierea produselor și a serviciilor </vt:lpstr>
      <vt:lpstr>Planul de marketing </vt:lpstr>
      <vt:lpstr>Organizarea și managementul </vt:lpstr>
      <vt:lpstr>Organizarea și managementul</vt:lpstr>
      <vt:lpstr>Situația  economico-financiară  </vt:lpstr>
      <vt:lpstr>Situația  economico-financiară</vt:lpstr>
      <vt:lpstr>Situația  economico-financiară</vt:lpstr>
      <vt:lpstr>Situația  economico-financiară</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de afaceri:</dc:title>
  <dc:creator>Iulia</dc:creator>
  <cp:lastModifiedBy>Iulia</cp:lastModifiedBy>
  <cp:revision>29</cp:revision>
  <dcterms:created xsi:type="dcterms:W3CDTF">2015-11-16T14:38:11Z</dcterms:created>
  <dcterms:modified xsi:type="dcterms:W3CDTF">2015-12-18T10:32:55Z</dcterms:modified>
</cp:coreProperties>
</file>